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29dea7dba964894" /><Relationship Type="http://schemas.openxmlformats.org/officeDocument/2006/relationships/extended-properties" Target="/docProps/app.xml" Id="R57092be0cf394cf1" /><Relationship Type="http://schemas.openxmlformats.org/officeDocument/2006/relationships/officeDocument" Target="/ppt/presentation.xml" Id="R804bcbbb0b704fa7" /></Relationships>
</file>

<file path=ppt/presentation.xml><?xml version="1.0" encoding="utf-8"?>
<p:presentation xmlns:p="http://schemas.openxmlformats.org/presentationml/2006/main">
  <p:sldMasterIdLst>
    <p:sldMasterId xmlns:r="http://schemas.openxmlformats.org/officeDocument/2006/relationships" id="2147483648" r:id="R31ea5d62abfc455e"/>
  </p:sldMasterIdLst>
  <p:notesMasterIdLst>
    <p:notesMasterId xmlns:r="http://schemas.openxmlformats.org/officeDocument/2006/relationships" r:id="R5c964303a9eb4171"/>
  </p:notesMasterIdLst>
  <p:sldIdLst>
    <p:sldId xmlns:r="http://schemas.openxmlformats.org/officeDocument/2006/relationships" id="256" r:id="R5d7a140eed0d44f0"/>
    <p:sldId xmlns:r="http://schemas.openxmlformats.org/officeDocument/2006/relationships" id="257" r:id="Rbac842594445420d"/>
    <p:sldId xmlns:r="http://schemas.openxmlformats.org/officeDocument/2006/relationships" id="258" r:id="Rc926a42219924623"/>
    <p:sldId xmlns:r="http://schemas.openxmlformats.org/officeDocument/2006/relationships" id="259" r:id="R62393b6efa0c44e7"/>
    <p:sldId xmlns:r="http://schemas.openxmlformats.org/officeDocument/2006/relationships" id="260" r:id="Rabb1ad2a804546b7"/>
    <p:sldId xmlns:r="http://schemas.openxmlformats.org/officeDocument/2006/relationships" id="261" r:id="Rdce2be00d7814d5c"/>
    <p:sldId xmlns:r="http://schemas.openxmlformats.org/officeDocument/2006/relationships" id="262" r:id="Rde5a00295d8e41d9"/>
    <p:sldId xmlns:r="http://schemas.openxmlformats.org/officeDocument/2006/relationships" id="263" r:id="Re7820f58bfbf464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4e73a64b0b64d61" /><Relationship Type="http://schemas.openxmlformats.org/officeDocument/2006/relationships/slideMaster" Target="/ppt/slideMasters/slideMaster1.xml" Id="R31ea5d62abfc455e" /><Relationship Type="http://schemas.openxmlformats.org/officeDocument/2006/relationships/notesMaster" Target="/ppt/notesMasters/notesMaster1.xml" Id="R5c964303a9eb4171" /><Relationship Type="http://schemas.openxmlformats.org/officeDocument/2006/relationships/presProps" Target="/ppt/presProps.xml" Id="Ra8eca985fe114fce" /><Relationship Type="http://schemas.openxmlformats.org/officeDocument/2006/relationships/tableStyles" Target="/ppt/tableStyles.xml" Id="R143e1a83bf2742fa" /><Relationship Type="http://schemas.openxmlformats.org/officeDocument/2006/relationships/slide" Target="/ppt/slides/slide1.xml" Id="R5d7a140eed0d44f0" /><Relationship Type="http://schemas.openxmlformats.org/officeDocument/2006/relationships/slide" Target="/ppt/slides/slide2.xml" Id="Rbac842594445420d" /><Relationship Type="http://schemas.openxmlformats.org/officeDocument/2006/relationships/slide" Target="/ppt/slides/slide3.xml" Id="Rc926a42219924623" /><Relationship Type="http://schemas.openxmlformats.org/officeDocument/2006/relationships/slide" Target="/ppt/slides/slide4.xml" Id="R62393b6efa0c44e7" /><Relationship Type="http://schemas.openxmlformats.org/officeDocument/2006/relationships/slide" Target="/ppt/slides/slide5.xml" Id="Rabb1ad2a804546b7" /><Relationship Type="http://schemas.openxmlformats.org/officeDocument/2006/relationships/slide" Target="/ppt/slides/slide6.xml" Id="Rdce2be00d7814d5c" /><Relationship Type="http://schemas.openxmlformats.org/officeDocument/2006/relationships/slide" Target="/ppt/slides/slide7.xml" Id="Rde5a00295d8e41d9" /><Relationship Type="http://schemas.openxmlformats.org/officeDocument/2006/relationships/slide" Target="/ppt/slides/slide8.xml" Id="Re7820f58bfbf464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79cb64e80eb4a9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0b42b6cd61f46c5" /><Relationship Type="http://schemas.openxmlformats.org/officeDocument/2006/relationships/notesMaster" Target="/ppt/notesMasters/notesMaster1.xml" Id="Rf55c429ea0174713" /></Relationships>
</file>

<file path=ppt/notesSlides/_rels/notesSlide2.xml.rels>&#65279;<?xml version="1.0" encoding="utf-8"?><Relationships xmlns="http://schemas.openxmlformats.org/package/2006/relationships"><Relationship Type="http://schemas.openxmlformats.org/officeDocument/2006/relationships/slide" Target="/ppt/slides/slide2.xml" Id="R0ebe97d48ee349e7" /><Relationship Type="http://schemas.openxmlformats.org/officeDocument/2006/relationships/notesMaster" Target="/ppt/notesMasters/notesMaster1.xml" Id="R44d960c6c2e945d0" /></Relationships>
</file>

<file path=ppt/notesSlides/_rels/notesSlide3.xml.rels>&#65279;<?xml version="1.0" encoding="utf-8"?><Relationships xmlns="http://schemas.openxmlformats.org/package/2006/relationships"><Relationship Type="http://schemas.openxmlformats.org/officeDocument/2006/relationships/slide" Target="/ppt/slides/slide3.xml" Id="Rcdd274947b2e4248" /><Relationship Type="http://schemas.openxmlformats.org/officeDocument/2006/relationships/notesMaster" Target="/ppt/notesMasters/notesMaster1.xml" Id="R8feb26bc5b9748cc" /></Relationships>
</file>

<file path=ppt/notesSlides/_rels/notesSlide4.xml.rels>&#65279;<?xml version="1.0" encoding="utf-8"?><Relationships xmlns="http://schemas.openxmlformats.org/package/2006/relationships"><Relationship Type="http://schemas.openxmlformats.org/officeDocument/2006/relationships/slide" Target="/ppt/slides/slide4.xml" Id="R6a70bab20c5f468f" /><Relationship Type="http://schemas.openxmlformats.org/officeDocument/2006/relationships/notesMaster" Target="/ppt/notesMasters/notesMaster1.xml" Id="R35d5d8ff519d4089" /></Relationships>
</file>

<file path=ppt/notesSlides/_rels/notesSlide5.xml.rels>&#65279;<?xml version="1.0" encoding="utf-8"?><Relationships xmlns="http://schemas.openxmlformats.org/package/2006/relationships"><Relationship Type="http://schemas.openxmlformats.org/officeDocument/2006/relationships/slide" Target="/ppt/slides/slide5.xml" Id="R993c8f7317b64177" /><Relationship Type="http://schemas.openxmlformats.org/officeDocument/2006/relationships/notesMaster" Target="/ppt/notesMasters/notesMaster1.xml" Id="Re0ea282573044bdd" /></Relationships>
</file>

<file path=ppt/notesSlides/_rels/notesSlide6.xml.rels>&#65279;<?xml version="1.0" encoding="utf-8"?><Relationships xmlns="http://schemas.openxmlformats.org/package/2006/relationships"><Relationship Type="http://schemas.openxmlformats.org/officeDocument/2006/relationships/slide" Target="/ppt/slides/slide6.xml" Id="R200cbdfe09874c77" /><Relationship Type="http://schemas.openxmlformats.org/officeDocument/2006/relationships/notesMaster" Target="/ppt/notesMasters/notesMaster1.xml" Id="R33e90032fbb840c1" /></Relationships>
</file>

<file path=ppt/notesSlides/_rels/notesSlide7.xml.rels>&#65279;<?xml version="1.0" encoding="utf-8"?><Relationships xmlns="http://schemas.openxmlformats.org/package/2006/relationships"><Relationship Type="http://schemas.openxmlformats.org/officeDocument/2006/relationships/slide" Target="/ppt/slides/slide7.xml" Id="Rf6419352c0e94781" /><Relationship Type="http://schemas.openxmlformats.org/officeDocument/2006/relationships/notesMaster" Target="/ppt/notesMasters/notesMaster1.xml" Id="R1a56259429974c38" /></Relationships>
</file>

<file path=ppt/notesSlides/_rels/notesSlide8.xml.rels>&#65279;<?xml version="1.0" encoding="utf-8"?><Relationships xmlns="http://schemas.openxmlformats.org/package/2006/relationships"><Relationship Type="http://schemas.openxmlformats.org/officeDocument/2006/relationships/slide" Target="/ppt/slides/slide8.xml" Id="R793281f2ea18499b" /><Relationship Type="http://schemas.openxmlformats.org/officeDocument/2006/relationships/notesMaster" Target="/ppt/notesMasters/notesMaster1.xml" Id="R6d64b631ea794db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[50 seconds]</a:t>
            </a:r>
          </a:p>
          <a:p xmlns:a="http://schemas.openxmlformats.org/drawingml/2006/main">
            <a:r>
              <a:t>What if you could learn Korean without sitting in a classroom? TTMIK makes this possible through online educational content. Our task is to analyze the YouTube channel as a learning resource. We look at the learner, the actions available, and the gaps between watching a lesson and being able to use Korean. The system boundary includes TTMIK videos and their organization, together with YouTube playback, discovery, and community features. The wider TTMIK course platform is a separate service. This boundary matters because we should not claim that every feature of the paid platform belongs to the YouTube channel. Our question is how this resource can support effective learning.</a:t>
            </a:r>
          </a:p>
          <a:p xmlns:a="http://schemas.openxmlformats.org/drawingml/2006/main">
            <a:r>
              <a:t/>
            </a:r>
          </a:p>
          <a:p xmlns:a="http://schemas.openxmlformats.org/drawingml/2006/main">
            <a:r>
              <a:t>Sources (accessed 5 October 2026):</a:t>
            </a:r>
          </a:p>
          <a:p xmlns:a="http://schemas.openxmlformats.org/drawingml/2006/main">
            <a:r>
              <a:t>https://www.youtube.com/watch?v=TLgAJgYqIZk</a:t>
            </a:r>
          </a:p>
          <a:p xmlns:a="http://schemas.openxmlformats.org/drawingml/2006/main">
            <a:r>
              <a:t>Image: https://img.youtube.com/vi/0KnUyy6pH-U/maxresdefault.jpg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[55 seconds]</a:t>
            </a:r>
          </a:p>
          <a:p xmlns:a="http://schemas.openxmlformats.org/drawingml/2006/main">
            <a:r>
              <a:t>Talk To Me In Korean provides Korean teaching materials across several services. On YouTube, learners can watch explanations and listen to Korean in real situations. For requirements analysis, we group users by their goals. Beginners need clear explanations and a starting point. Intermediate learners need more natural speech and enough context to understand it. Travelers may want a phrase for ordering food immediately, while culture learners want context for expressions. TOPIK learners are a possible stakeholder group, but the channel should support their wider exam preparation rather than promise a complete syllabus. These groups are analytical assumptions based on the content, not results from a user survey. We would validate them through interviews.</a:t>
            </a:r>
          </a:p>
          <a:p xmlns:a="http://schemas.openxmlformats.org/drawingml/2006/main">
            <a:r>
              <a:t/>
            </a:r>
          </a:p>
          <a:p xmlns:a="http://schemas.openxmlformats.org/drawingml/2006/main">
            <a:r>
              <a:t>Sources (accessed 5 October 2026):</a:t>
            </a:r>
          </a:p>
          <a:p xmlns:a="http://schemas.openxmlformats.org/drawingml/2006/main">
            <a:r>
              <a:t>https://www.youtube.com/watch?v=TLgAJgYqIZk</a:t>
            </a:r>
          </a:p>
          <a:p xmlns:a="http://schemas.openxmlformats.org/drawingml/2006/main">
            <a:r>
              <a:t>https://www.youtube.com/watch?v=5n7HFxyE4ZI</a:t>
            </a:r>
          </a:p>
          <a:p xmlns:a="http://schemas.openxmlformats.org/drawingml/2006/main">
            <a:r>
              <a:t>https://courses.talktomeinkorean.com/course-curriculum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[60 seconds]</a:t>
            </a:r>
          </a:p>
          <a:p xmlns:a="http://schemas.openxmlformats.org/drawingml/2006/main">
            <a:r>
              <a:t>This flow describes an intended learner journey, rather than a process that YouTube enforces. First the learner finds a relevant lesson. Then they watch and listen, using captions when available. They identify vocabulary or a grammar pattern and practice by pausing, repeating aloud, and listening again. Saving a lesson makes later review easier. Finally, they move to harder content. The gap is that a viewer can skip practice and review entirely. A video player can record that someone watched a lesson without showing whether they understood it. This suggests requirements for clearer sequencing and evidence of learning. In a proposed companion platform, a short quiz could determine whether to review the same topic or recommend a next lesson.</a:t>
            </a:r>
          </a:p>
          <a:p xmlns:a="http://schemas.openxmlformats.org/drawingml/2006/main">
            <a:r>
              <a:t/>
            </a:r>
          </a:p>
          <a:p xmlns:a="http://schemas.openxmlformats.org/drawingml/2006/main">
            <a:r>
              <a:t>Sources (accessed 5 October 2026):</a:t>
            </a:r>
          </a:p>
          <a:p xmlns:a="http://schemas.openxmlformats.org/drawingml/2006/main">
            <a:r>
              <a:t>https://www.youtube.com/watch?v=TLgAJgYqIZk</a:t>
            </a:r>
          </a:p>
          <a:p xmlns:a="http://schemas.openxmlformats.org/drawingml/2006/main">
            <a:r>
              <a:t>Flow and learning-gap assessment: group analysis.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[65 seconds]</a:t>
            </a:r>
          </a:p>
          <a:p xmlns:a="http://schemas.openxmlformats.org/drawingml/2006/main">
            <a:r>
              <a:t>Functional requirements describe the actions that the system should support. Each requirement here traces back to a need. A learner who struggles with a grammar pattern needs an explanation and examples, which becomes FR1. Someone who cannot find the right lesson needs search and clear organization, FR2. Listening and pronunciation practice address the need to use spoken Korean. Captions can help learners follow unfamiliar speech, although their availability differs by video. Saving and recommendations support review and continued study. Comments give learners a way to ask questions, but do not guarantee a teacher reply. Responsibility is shared: TTMIK supplies the educational content and organizes it, while YouTube supplies many platform functions. Difficulty organization is a requirement to evaluate, not a claim that every existing video has a consistent level label.</a:t>
            </a:r>
          </a:p>
          <a:p xmlns:a="http://schemas.openxmlformats.org/drawingml/2006/main">
            <a:r>
              <a:t/>
            </a:r>
          </a:p>
          <a:p xmlns:a="http://schemas.openxmlformats.org/drawingml/2006/main">
            <a:r>
              <a:t>Sources (accessed 5 October 2026):</a:t>
            </a:r>
          </a:p>
          <a:p xmlns:a="http://schemas.openxmlformats.org/drawingml/2006/main">
            <a:r>
              <a:t>https://www.youtube.com/watch?v=TLgAJgYqIZk</a:t>
            </a:r>
          </a:p>
          <a:p xmlns:a="http://schemas.openxmlformats.org/drawingml/2006/main">
            <a:r>
              <a:t>Requirements and responsibility mapping: group analysis. Image: https://img.youtube.com/vi/TLgAJgYqIZk/maxresdefault.jpg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[65 seconds]</a:t>
            </a:r>
          </a:p>
          <a:p xmlns:a="http://schemas.openxmlformats.org/drawingml/2006/main">
            <a:r>
              <a:t>Non-functional requirements describe the quality of the experience. Saying easy to use is vague, so we need a test: can a new learner find an appropriate starting lesson in one minute? Accessibility includes checked captions and playback speed controls. Speed controls do not replace accurate captions. For performance, we propose a three-second playback start under a defined connection and device test. We are not claiming that TTMIK currently achieves this. Reliability includes checking links and maintaining an organized catalogue. Compatibility means testing core tasks on phones, tablets, and laptops. Visual clarity requires checking text at actual mobile size. Some qualities depend heavily on YouTube and network conditions, so the team should record those dependencies before assigning responsibility for a failure.</a:t>
            </a:r>
          </a:p>
          <a:p xmlns:a="http://schemas.openxmlformats.org/drawingml/2006/main">
            <a:r>
              <a:t/>
            </a:r>
          </a:p>
          <a:p xmlns:a="http://schemas.openxmlformats.org/drawingml/2006/main">
            <a:r>
              <a:t>Sources (accessed 5 October 2026):</a:t>
            </a:r>
          </a:p>
          <a:p xmlns:a="http://schemas.openxmlformats.org/drawingml/2006/main">
            <a:r>
              <a:t>Proposed acceptance criteria: group analysis, not measured service guarantees. Image: https://15th-anniversary.talktomeinkorean.com/image/ttmik-courses_pc.png (separate TTMIK Courses interface).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[60 seconds]</a:t>
            </a:r>
          </a:p>
          <a:p xmlns:a="http://schemas.openxmlformats.org/drawingml/2006/main">
            <a:r>
              <a:t>The channel has several strengths as a resource. Free videos lower the access barrier, and YouTube is convenient for learners who already use it. Explanations can help beginners, while conversations expose learners to natural speech. The weaknesses concern the learning process. A large catalogue can make choosing the next lesson harder. Watching a video does not demonstrate that a student can use a new expression independently. Comments allow interaction but do not provide systematic feedback. Watch history records activity rather than mastery. These are our analytical observations about the channel format, not evidence that TTMIK as a whole lacks educational tools. Its separate course service already offers structured lessons and review quizzes. The design opportunity is to make the route between open videos and active practice clearer.</a:t>
            </a:r>
          </a:p>
          <a:p xmlns:a="http://schemas.openxmlformats.org/drawingml/2006/main">
            <a:r>
              <a:t/>
            </a:r>
          </a:p>
          <a:p xmlns:a="http://schemas.openxmlformats.org/drawingml/2006/main">
            <a:r>
              <a:t>Sources (accessed 5 October 2026):</a:t>
            </a:r>
          </a:p>
          <a:p xmlns:a="http://schemas.openxmlformats.org/drawingml/2006/main">
            <a:r>
              <a:t>https://www.youtube.com/watch?v=TLgAJgYqIZk</a:t>
            </a:r>
          </a:p>
          <a:p xmlns:a="http://schemas.openxmlformats.org/drawingml/2006/main">
            <a:r>
              <a:t>https://courses.talktomeinkorean.com/</a:t>
            </a:r>
          </a:p>
          <a:p xmlns:a="http://schemas.openxmlformats.org/drawingml/2006/main">
            <a:r>
              <a:t>Strengths and limitations: group analysis.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[70 seconds]</a:t>
            </a:r>
          </a:p>
          <a:p xmlns:a="http://schemas.openxmlformats.org/drawingml/2006/main">
            <a:r>
              <a:t>We propose a companion layer that links each YouTube lesson to a guided learning activity. Start with consistent level labels and paths, followed by quizzes and progress tracking. For example, after a lesson the learner answers a short check. The system records the result and offers review or an appropriate next lesson. Flashcards support later recall. Speaking tasks can begin with recording and self-comparison before introducing automated feedback. Later features could include an exam-focused path, personalized recommendations, and achievement records. Certificates should reflect assessed completion rather than viewing alone. The illustration shows our proposed companion interface with a quiz, vocabulary review, and progress indicator. The separate TTMIK course service already offers structured lessons and review quizzes. We should reuse or link to existing tools where possible instead of duplicating them. Account integration, permissions, and learner data privacy would need investigation before implementation.</a:t>
            </a:r>
          </a:p>
          <a:p xmlns:a="http://schemas.openxmlformats.org/drawingml/2006/main">
            <a:r>
              <a:t/>
            </a:r>
          </a:p>
          <a:p xmlns:a="http://schemas.openxmlformats.org/drawingml/2006/main">
            <a:r>
              <a:t>Sources (accessed 5 October 2026):</a:t>
            </a:r>
          </a:p>
          <a:p xmlns:a="http://schemas.openxmlformats.org/drawingml/2006/main">
            <a:r>
              <a:t>https://courses.talktomeinkorean.com/</a:t>
            </a:r>
          </a:p>
          <a:p xmlns:a="http://schemas.openxmlformats.org/drawingml/2006/main">
            <a:r>
              <a:t>https://15th-anniversary.talktomeinkorean.com/</a:t>
            </a:r>
          </a:p>
          <a:p xmlns:a="http://schemas.openxmlformats.org/drawingml/2006/main">
            <a:r>
              <a:t>Visual: AI-generated illustrative companion concept, not an existing product screenshot.</a:t>
            </a:r>
          </a:p>
          <a:p xmlns:a="http://schemas.openxmlformats.org/drawingml/2006/main">
            <a:r>
              <a:t>Priorities and integration proposal: group analysis.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[35 seconds]</a:t>
            </a:r>
          </a:p>
          <a:p xmlns:a="http://schemas.openxmlformats.org/drawingml/2006/main">
            <a:r>
              <a:t>Our conclusion is that TTMIK YouTube provides valuable Korean-learning content within a familiar digital platform. Requirements analysis helps us connect what learners need with the functions and qualities that support those needs. The most useful improvements are clearer learning paths and checks that show what a student has understood. A connected practice and progress layer could support the learning process while continuing to use the existing videos and TTMIK tools. Thank you. To finish, consider this question: is watching a lesson enough to learn a language? What extra activity would prove that you can actually use what you learned?</a:t>
            </a:r>
          </a:p>
          <a:p xmlns:a="http://schemas.openxmlformats.org/drawingml/2006/main">
            <a:r>
              <a:t/>
            </a:r>
          </a:p>
          <a:p xmlns:a="http://schemas.openxmlformats.org/drawingml/2006/main">
            <a:r>
              <a:t>Sources (accessed 5 October 2026):</a:t>
            </a:r>
          </a:p>
          <a:p xmlns:a="http://schemas.openxmlformats.org/drawingml/2006/main">
            <a:r>
              <a:t>Conclusion: group analysis based on the sources in slides 2, 6 and 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3067765bb7b45f3"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0b059e7561e74c33"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0c3bb633487b4e51"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dc2320dfe4b847dd"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351e3e1516a646b0"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28a98d0e11f140c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0522F407-A52C-476C-96A8-AC30DC1EA796}"/>
              </a:ext>
            </a:extLst>
          </p:cNvPr>
          <p:cNvSpPr>
            <a:spLocks xmlns:a="http://schemas.openxmlformats.org/drawingml/2006/main" noGrp="1"/>
          </p:cNvSpPr>
          <p:nvPr/>
        </p:nvSpPr>
        <p:spPr>
          <a:xfrm xmlns:a="http://schemas.openxmlformats.org/drawingml/2006/main">
            <a:off x="5791200" y="22098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4581D9C6-70AE-4EFB-8DC5-1C96A085A603}"/>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Subtitle">
            <a:extLst xmlns:a="http://schemas.openxmlformats.org/drawingml/2006/main">
              <a:ext uri="{FF2B5EF4-FFF2-40B4-BE49-F238E27FC236}">
                <a16:creationId xmlns:a16="http://schemas.microsoft.com/office/drawing/2014/main" id="{87E5C392-92B0-4655-9878-613389FBF4F2}"/>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3" name="Accent rule">
            <a:extLst xmlns:a="http://schemas.openxmlformats.org/drawingml/2006/main">
              <a:ext uri="{FF2B5EF4-FFF2-40B4-BE49-F238E27FC236}">
                <a16:creationId xmlns:a16="http://schemas.microsoft.com/office/drawing/2014/main" id="{7ADDAD76-EE1E-40F6-8589-9280C155C797}"/>
              </a:ext>
            </a:extLst>
          </p:cNvPr>
          <p:cNvSpPr>
            <a:spLocks xmlns:a="http://schemas.openxmlformats.org/drawingml/2006/main" noGrp="1"/>
          </p:cNvSpPr>
          <p:nvPr/>
        </p:nvSpPr>
        <p:spPr>
          <a:xfrm xmlns:a="http://schemas.openxmlformats.org/drawingml/2006/main">
            <a:off x="5791200" y="24765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Section title">
            <a:extLst xmlns:a="http://schemas.openxmlformats.org/drawingml/2006/main">
              <a:ext uri="{FF2B5EF4-FFF2-40B4-BE49-F238E27FC236}">
                <a16:creationId xmlns:a16="http://schemas.microsoft.com/office/drawing/2014/main" id="{04B7BA1E-2198-4C17-9A6B-78429F04EA46}"/>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754EE88C-A442-4297-88A0-87AC1EF78D52}"/>
              </a:ext>
            </a:extLst>
          </p:cNvPr>
          <p:cNvSpPr>
            <a:spLocks xmlns:a="http://schemas.openxmlformats.org/drawingml/2006/main" noGrp="1"/>
          </p:cNvSpPr>
          <p:nvPr/>
        </p:nvSpPr>
        <p:spPr>
          <a:xfrm xmlns:a="http://schemas.openxmlformats.org/drawingml/2006/main">
            <a:off x="685800" y="15240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08326EB3-B970-4177-B840-5A6A79F96FF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Body">
            <a:extLst xmlns:a="http://schemas.openxmlformats.org/drawingml/2006/main">
              <a:ext uri="{FF2B5EF4-FFF2-40B4-BE49-F238E27FC236}">
                <a16:creationId xmlns:a16="http://schemas.microsoft.com/office/drawing/2014/main" id="{CDE5C300-0655-415B-99D3-C7C768D9AB7A}"/>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5" name="Accent rule">
            <a:extLst xmlns:a="http://schemas.openxmlformats.org/drawingml/2006/main">
              <a:ext uri="{FF2B5EF4-FFF2-40B4-BE49-F238E27FC236}">
                <a16:creationId xmlns:a16="http://schemas.microsoft.com/office/drawing/2014/main" id="{AA4BB464-096D-4911-BC00-6076EE2C26A4}"/>
              </a:ext>
            </a:extLst>
          </p:cNvPr>
          <p:cNvSpPr>
            <a:spLocks xmlns:a="http://schemas.openxmlformats.org/drawingml/2006/main" noGrp="1"/>
          </p:cNvSpPr>
          <p:nvPr/>
        </p:nvSpPr>
        <p:spPr>
          <a:xfrm xmlns:a="http://schemas.openxmlformats.org/drawingml/2006/main">
            <a:off x="685800" y="15240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7823AA28-A25A-4E50-A798-14C0466BB5C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Left column">
            <a:extLst xmlns:a="http://schemas.openxmlformats.org/drawingml/2006/main">
              <a:ext uri="{FF2B5EF4-FFF2-40B4-BE49-F238E27FC236}">
                <a16:creationId xmlns:a16="http://schemas.microsoft.com/office/drawing/2014/main" id="{4D988F33-7DB7-4E2A-847D-BDD41487EC2B}"/>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4" name="Right column">
            <a:extLst xmlns:a="http://schemas.openxmlformats.org/drawingml/2006/main">
              <a:ext uri="{FF2B5EF4-FFF2-40B4-BE49-F238E27FC236}">
                <a16:creationId xmlns:a16="http://schemas.microsoft.com/office/drawing/2014/main" id="{EFB0430E-7F7B-4202-955E-7CC9B1D4ABCF}"/>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B67E6850-E256-476D-9EC6-E6A6110A40EC}"/>
              </a:ext>
            </a:extLst>
          </p:cNvPr>
          <p:cNvSpPr>
            <a:spLocks xmlns:a="http://schemas.openxmlformats.org/drawingml/2006/main" noGrp="1"/>
          </p:cNvSpPr>
          <p:nvPr/>
        </p:nvSpPr>
        <p:spPr>
          <a:xfrm xmlns:a="http://schemas.openxmlformats.org/drawingml/2006/main">
            <a:off x="685800" y="15240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00628F97-8938-4F8B-8327-44FAF1639D8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Left column">
            <a:extLst xmlns:a="http://schemas.openxmlformats.org/drawingml/2006/main">
              <a:ext uri="{FF2B5EF4-FFF2-40B4-BE49-F238E27FC236}">
                <a16:creationId xmlns:a16="http://schemas.microsoft.com/office/drawing/2014/main" id="{A46ED492-D981-47E4-A565-B49E02EE8EF6}"/>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55e042261ea4baa" /><Relationship Type="http://schemas.openxmlformats.org/officeDocument/2006/relationships/slideLayout" Target="/ppt/slideLayouts/slideLayout1.xml" Id="R1267545aa8fc46b1" /><Relationship Type="http://schemas.openxmlformats.org/officeDocument/2006/relationships/slideLayout" Target="/ppt/slideLayouts/slideLayout2.xml" Id="R13a47afcfbda4263" /><Relationship Type="http://schemas.openxmlformats.org/officeDocument/2006/relationships/slideLayout" Target="/ppt/slideLayouts/slideLayout3.xml" Id="R88e2c23956674287" /><Relationship Type="http://schemas.openxmlformats.org/officeDocument/2006/relationships/slideLayout" Target="/ppt/slideLayouts/slideLayout4.xml" Id="R30282d3b9d4941e9" /><Relationship Type="http://schemas.openxmlformats.org/officeDocument/2006/relationships/slideLayout" Target="/ppt/slideLayouts/slideLayout5.xml" Id="Rfee83720f225480f" /><Relationship Type="http://schemas.openxmlformats.org/officeDocument/2006/relationships/slideLayout" Target="/ppt/slideLayouts/slideLayout6.xml" Id="R70bc03b1b334445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267545aa8fc46b1"/>
    <p:sldLayoutId xmlns:r="http://schemas.openxmlformats.org/officeDocument/2006/relationships" id="2147483650" r:id="R13a47afcfbda4263"/>
    <p:sldLayoutId xmlns:r="http://schemas.openxmlformats.org/officeDocument/2006/relationships" id="2147483651" r:id="R88e2c23956674287"/>
    <p:sldLayoutId xmlns:r="http://schemas.openxmlformats.org/officeDocument/2006/relationships" id="2147483652" r:id="R30282d3b9d4941e9"/>
    <p:sldLayoutId xmlns:r="http://schemas.openxmlformats.org/officeDocument/2006/relationships" id="2147483653" r:id="Rfee83720f225480f"/>
    <p:sldLayoutId xmlns:r="http://schemas.openxmlformats.org/officeDocument/2006/relationships" id="2147483654" r:id="R70bc03b1b334445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b4d117e607084b40" /><Relationship Type="http://schemas.openxmlformats.org/officeDocument/2006/relationships/image" Target="/ppt/media/image.jpeg" Id="R4bc9f42422f14232" /><Relationship Type="http://schemas.openxmlformats.org/officeDocument/2006/relationships/notesSlide" Target="/ppt/notesSlides/notesSlide1.xml" Id="Rc9af4dc55c91488d"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92c3df7923284570" /><Relationship Type="http://schemas.openxmlformats.org/officeDocument/2006/relationships/image" Target="/ppt/media/image2.jpeg" Id="Rffc8ea997df54911" /><Relationship Type="http://schemas.openxmlformats.org/officeDocument/2006/relationships/notesSlide" Target="/ppt/notesSlides/notesSlide2.xml" Id="R4b0c2e81e3c940e7"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27ad1cd2cca245ef" /><Relationship Type="http://schemas.openxmlformats.org/officeDocument/2006/relationships/notesSlide" Target="/ppt/notesSlides/notesSlide3.xml" Id="R5351fb6c71cb4d70"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ca595ec055204c7f" /><Relationship Type="http://schemas.openxmlformats.org/officeDocument/2006/relationships/image" Target="/ppt/media/image3.jpeg" Id="R1d5e50dc226d4211" /><Relationship Type="http://schemas.openxmlformats.org/officeDocument/2006/relationships/notesSlide" Target="/ppt/notesSlides/notesSlide4.xml" Id="Rba3c90d434bc4933"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45a69ccb2aa840eb" /><Relationship Type="http://schemas.openxmlformats.org/officeDocument/2006/relationships/image" Target="/ppt/media/image.png" Id="Rb830c8c4f2a84abb" /><Relationship Type="http://schemas.openxmlformats.org/officeDocument/2006/relationships/notesSlide" Target="/ppt/notesSlides/notesSlide5.xml" Id="R2a4490c361564b69"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0a0b2c2969f44040" /><Relationship Type="http://schemas.openxmlformats.org/officeDocument/2006/relationships/notesSlide" Target="/ppt/notesSlides/notesSlide6.xml" Id="R73354264bea54fc9"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c3e4a7e5a05b44dd" /><Relationship Type="http://schemas.openxmlformats.org/officeDocument/2006/relationships/image" Target="/ppt/media/image2.png" Id="Rfec9a7e71aea4714" /><Relationship Type="http://schemas.openxmlformats.org/officeDocument/2006/relationships/notesSlide" Target="/ppt/notesSlides/notesSlide7.xml" Id="Rdec13d234caa4d39"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9e36ccb7f77d4fce" /><Relationship Type="http://schemas.openxmlformats.org/officeDocument/2006/relationships/notesSlide" Target="/ppt/notesSlides/notesSlide8.xml" Id="Ra8ec1cde7f884a3f" /></Relationships>
</file>

<file path=ppt/slides/slide1.xml><?xml version="1.0" encoding="utf-8"?>
<p:sld xmlns:p="http://schemas.openxmlformats.org/presentationml/2006/main">
  <p:cSld>
    <p:bg>
      <p:bgPr>
        <a:solidFill xmlns:a="http://schemas.openxmlformats.org/drawingml/2006/main">
          <a:srgbClr val="14233D"/>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2F8AC08-B529-4C03-9CCF-37C0B075EB4D}"/>
              </a:ext>
            </a:extLst>
          </p:cNvPr>
          <p:cNvSpPr>
            <a:spLocks xmlns:a="http://schemas.openxmlformats.org/drawingml/2006/main" noGrp="1"/>
          </p:cNvSpPr>
          <p:nvPr/>
        </p:nvSpPr>
        <p:spPr>
          <a:xfrm xmlns:a="http://schemas.openxmlformats.org/drawingml/2006/main">
            <a:off x="609600" y="523875"/>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FFFFFF"/>
                </a:solidFill>
                <a:latin typeface="DejaVu Sans"/>
                <a:ea typeface="DejaVu Sans"/>
                <a:cs typeface="DejaVu Sans"/>
              </a:defRPr>
            </a:pPr>
            <a:r>
              <a:rPr sz="3300" b="1">
                <a:solidFill>
                  <a:srgbClr val="FFFFFF"/>
                </a:solidFill>
                <a:latin typeface="DejaVu Sans"/>
                <a:ea typeface="DejaVu Sans"/>
                <a:cs typeface="DejaVu Sans"/>
              </a:rPr>
              <a:t>Talk To Me In Korean</a:t>
            </a:r>
          </a:p>
        </p:txBody>
      </p:sp>
      <p:sp>
        <p:nvSpPr>
          <p:cNvPr id="2" name="">
            <a:extLst xmlns:a="http://schemas.openxmlformats.org/drawingml/2006/main">
              <a:ext uri="{FF2B5EF4-FFF2-40B4-BE49-F238E27FC236}">
                <a16:creationId xmlns:a16="http://schemas.microsoft.com/office/drawing/2014/main" id="{82F22F7B-E3C3-47B3-903F-4E6B69FACE03}"/>
              </a:ext>
            </a:extLst>
          </p:cNvPr>
          <p:cNvSpPr>
            <a:spLocks xmlns:a="http://schemas.openxmlformats.org/drawingml/2006/main" noGrp="1"/>
          </p:cNvSpPr>
          <p:nvPr/>
        </p:nvSpPr>
        <p:spPr>
          <a:xfrm xmlns:a="http://schemas.openxmlformats.org/drawingml/2006/main">
            <a:off x="11049000" y="6315075"/>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BBC6DC"/>
                </a:solidFill>
                <a:latin typeface="DejaVu Sans"/>
                <a:ea typeface="DejaVu Sans"/>
                <a:cs typeface="DejaVu Sans"/>
              </a:defRPr>
            </a:pPr>
            <a:r>
              <a:rPr sz="1350" b="0">
                <a:solidFill>
                  <a:srgbClr val="BBC6DC"/>
                </a:solidFill>
                <a:latin typeface="DejaVu Sans"/>
                <a:ea typeface="DejaVu Sans"/>
                <a:cs typeface="DejaVu Sans"/>
              </a:rPr>
              <a:t>01</a:t>
            </a:r>
          </a:p>
        </p:txBody>
      </p:sp>
      <p:sp>
        <p:nvSpPr>
          <p:cNvPr id="3" name="">
            <a:extLst xmlns:a="http://schemas.openxmlformats.org/drawingml/2006/main">
              <a:ext uri="{FF2B5EF4-FFF2-40B4-BE49-F238E27FC236}">
                <a16:creationId xmlns:a16="http://schemas.microsoft.com/office/drawing/2014/main" id="{1A1BF0F8-9B76-449E-831A-BAEFC87CDBAB}"/>
              </a:ext>
            </a:extLst>
          </p:cNvPr>
          <p:cNvSpPr>
            <a:spLocks xmlns:a="http://schemas.openxmlformats.org/drawingml/2006/main" noGrp="1"/>
          </p:cNvSpPr>
          <p:nvPr/>
        </p:nvSpPr>
        <p:spPr>
          <a:xfrm xmlns:a="http://schemas.openxmlformats.org/drawingml/2006/main">
            <a:off x="609600" y="1285875"/>
            <a:ext cx="10572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200" b="1">
                <a:solidFill>
                  <a:srgbClr val="FFFFFF"/>
                </a:solidFill>
                <a:latin typeface="DejaVu Sans"/>
                <a:ea typeface="DejaVu Sans"/>
                <a:cs typeface="DejaVu Sans"/>
              </a:defRPr>
            </a:pPr>
            <a:r>
              <a:rPr sz="4200" b="1">
                <a:solidFill>
                  <a:srgbClr val="FFFFFF"/>
                </a:solidFill>
                <a:latin typeface="DejaVu Sans"/>
                <a:ea typeface="DejaVu Sans"/>
                <a:cs typeface="DejaVu Sans"/>
              </a:rPr>
              <a:t>YouTube Channel</a:t>
            </a:r>
          </a:p>
        </p:txBody>
      </p:sp>
      <p:sp>
        <p:nvSpPr>
          <p:cNvPr id="4" name="">
            <a:extLst xmlns:a="http://schemas.openxmlformats.org/drawingml/2006/main">
              <a:ext uri="{FF2B5EF4-FFF2-40B4-BE49-F238E27FC236}">
                <a16:creationId xmlns:a16="http://schemas.microsoft.com/office/drawing/2014/main" id="{01335360-5225-4D2B-A388-8B41F479FAE5}"/>
              </a:ext>
            </a:extLst>
          </p:cNvPr>
          <p:cNvSpPr>
            <a:spLocks xmlns:a="http://schemas.openxmlformats.org/drawingml/2006/main" noGrp="1"/>
          </p:cNvSpPr>
          <p:nvPr/>
        </p:nvSpPr>
        <p:spPr>
          <a:xfrm xmlns:a="http://schemas.openxmlformats.org/drawingml/2006/main">
            <a:off x="609600" y="2419350"/>
            <a:ext cx="523875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FFFFFF"/>
                </a:solidFill>
                <a:latin typeface="DejaVu Sans"/>
                <a:ea typeface="DejaVu Sans"/>
                <a:cs typeface="DejaVu Sans"/>
              </a:defRPr>
            </a:pPr>
            <a:r>
              <a:rPr sz="2550" b="0">
                <a:solidFill>
                  <a:srgbClr val="FFFFFF"/>
                </a:solidFill>
                <a:latin typeface="DejaVu Sans"/>
                <a:ea typeface="DejaVu Sans"/>
                <a:cs typeface="DejaVu Sans"/>
              </a:rPr>
              <a:t>What if you could learn Korean</a:t>
            </a:r>
          </a:p>
          <a:p xmlns:a="http://schemas.openxmlformats.org/drawingml/2006/main">
            <a:pPr>
              <a:defRPr sz="2550" b="0">
                <a:solidFill>
                  <a:srgbClr val="FFFFFF"/>
                </a:solidFill>
                <a:latin typeface="DejaVu Sans"/>
                <a:ea typeface="DejaVu Sans"/>
                <a:cs typeface="DejaVu Sans"/>
              </a:defRPr>
            </a:pPr>
            <a:r>
              <a:rPr sz="2550" b="0">
                <a:solidFill>
                  <a:srgbClr val="FFFFFF"/>
                </a:solidFill>
                <a:latin typeface="DejaVu Sans"/>
                <a:ea typeface="DejaVu Sans"/>
                <a:cs typeface="DejaVu Sans"/>
              </a:rPr>
              <a:t>without sitting in a classroom?</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4bc9f42422f14232"/>
          <a:stretch xmlns:a="http://schemas.openxmlformats.org/drawingml/2006/main"/>
        </p:blipFill>
        <p:spPr>
          <a:xfrm xmlns:a="http://schemas.openxmlformats.org/drawingml/2006/main">
            <a:off x="6267450" y="2181820"/>
            <a:ext cx="5314950" cy="2989659"/>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C9448E9F-2AFE-4FB5-8F93-58E210FB4545}"/>
              </a:ext>
            </a:extLst>
          </p:cNvPr>
          <p:cNvSpPr>
            <a:spLocks xmlns:a="http://schemas.openxmlformats.org/drawingml/2006/main" noGrp="1"/>
          </p:cNvSpPr>
          <p:nvPr/>
        </p:nvSpPr>
        <p:spPr>
          <a:xfrm xmlns:a="http://schemas.openxmlformats.org/drawingml/2006/main">
            <a:off x="609600" y="4448175"/>
            <a:ext cx="54673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BAC9E5"/>
                </a:solidFill>
                <a:latin typeface="DejaVu Sans"/>
                <a:ea typeface="DejaVu Sans"/>
                <a:cs typeface="DejaVu Sans"/>
              </a:defRPr>
            </a:pPr>
            <a:r>
              <a:rPr sz="1950" b="0">
                <a:solidFill>
                  <a:srgbClr val="BAC9E5"/>
                </a:solidFill>
                <a:latin typeface="DejaVu Sans"/>
                <a:ea typeface="DejaVu Sans"/>
                <a:cs typeface="DejaVu Sans"/>
              </a:rPr>
              <a:t>A Korean-learning system/resource</a:t>
            </a:r>
          </a:p>
        </p:txBody>
      </p:sp>
      <p:sp>
        <p:nvSpPr>
          <p:cNvPr id="7" name="">
            <a:extLst xmlns:a="http://schemas.openxmlformats.org/drawingml/2006/main">
              <a:ext uri="{FF2B5EF4-FFF2-40B4-BE49-F238E27FC236}">
                <a16:creationId xmlns:a16="http://schemas.microsoft.com/office/drawing/2014/main" id="{8BD894C5-3A8D-4C7C-AA31-C0E537EC76BC}"/>
              </a:ext>
            </a:extLst>
          </p:cNvPr>
          <p:cNvSpPr>
            <a:spLocks xmlns:a="http://schemas.openxmlformats.org/drawingml/2006/main" noGrp="1"/>
          </p:cNvSpPr>
          <p:nvPr/>
        </p:nvSpPr>
        <p:spPr>
          <a:xfrm xmlns:a="http://schemas.openxmlformats.org/drawingml/2006/main">
            <a:off x="609600" y="5524500"/>
            <a:ext cx="6667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BAC9E5"/>
                </a:solidFill>
                <a:latin typeface="DejaVu Sans"/>
                <a:ea typeface="DejaVu Sans"/>
                <a:cs typeface="DejaVu Sans"/>
              </a:defRPr>
            </a:pPr>
            <a:r>
              <a:rPr sz="1800" b="0">
                <a:solidFill>
                  <a:srgbClr val="BAC9E5"/>
                </a:solidFill>
                <a:latin typeface="DejaVu Sans"/>
                <a:ea typeface="DejaVu Sans"/>
                <a:cs typeface="DejaVu Sans"/>
              </a:rPr>
              <a:t>System Analysis and Design</a:t>
            </a:r>
          </a:p>
        </p:txBody>
      </p:sp>
    </p:spTree>
    <p:extLst>
      <p:ext uri="{BB962C8B-B14F-4D97-AF65-F5344CB8AC3E}">
        <p14:creationId xmlns:p14="http://schemas.microsoft.com/office/powerpoint/2010/main" val="846193297"/>
      </p:ext>
    </p:extLst>
  </p:cSld>
</p:sld>
</file>

<file path=ppt/slides/slide2.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4229DCF7-E1B6-4289-B116-6F383240069C}"/>
              </a:ext>
            </a:extLst>
          </p:cNvPr>
          <p:cNvSpPr>
            <a:spLocks xmlns:a="http://schemas.openxmlformats.org/drawingml/2006/main" noGrp="1"/>
          </p:cNvSpPr>
          <p:nvPr/>
        </p:nvSpPr>
        <p:spPr>
          <a:xfrm xmlns:a="http://schemas.openxmlformats.org/drawingml/2006/main">
            <a:off x="609600" y="523875"/>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4233D"/>
                </a:solidFill>
                <a:latin typeface="DejaVu Sans"/>
                <a:ea typeface="DejaVu Sans"/>
                <a:cs typeface="DejaVu Sans"/>
              </a:defRPr>
            </a:pPr>
            <a:r>
              <a:rPr sz="3300" b="1">
                <a:solidFill>
                  <a:srgbClr val="14233D"/>
                </a:solidFill>
                <a:latin typeface="DejaVu Sans"/>
                <a:ea typeface="DejaVu Sans"/>
                <a:cs typeface="DejaVu Sans"/>
              </a:rPr>
              <a:t>What is TTMIK?</a:t>
            </a:r>
          </a:p>
        </p:txBody>
      </p:sp>
      <p:sp>
        <p:nvSpPr>
          <p:cNvPr id="2" name="">
            <a:extLst xmlns:a="http://schemas.openxmlformats.org/drawingml/2006/main">
              <a:ext uri="{FF2B5EF4-FFF2-40B4-BE49-F238E27FC236}">
                <a16:creationId xmlns:a16="http://schemas.microsoft.com/office/drawing/2014/main" id="{A8006D6A-380F-4848-A04F-18B802EC9232}"/>
              </a:ext>
            </a:extLst>
          </p:cNvPr>
          <p:cNvSpPr>
            <a:spLocks xmlns:a="http://schemas.openxmlformats.org/drawingml/2006/main" noGrp="1"/>
          </p:cNvSpPr>
          <p:nvPr/>
        </p:nvSpPr>
        <p:spPr>
          <a:xfrm xmlns:a="http://schemas.openxmlformats.org/drawingml/2006/main">
            <a:off x="11049000" y="6315075"/>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96578"/>
                </a:solidFill>
                <a:latin typeface="DejaVu Sans"/>
                <a:ea typeface="DejaVu Sans"/>
                <a:cs typeface="DejaVu Sans"/>
              </a:defRPr>
            </a:pPr>
            <a:r>
              <a:rPr sz="1350" b="0">
                <a:solidFill>
                  <a:srgbClr val="596578"/>
                </a:solidFill>
                <a:latin typeface="DejaVu Sans"/>
                <a:ea typeface="DejaVu Sans"/>
                <a:cs typeface="DejaVu Sans"/>
              </a:rPr>
              <a:t>02</a:t>
            </a:r>
          </a:p>
        </p:txBody>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ffc8ea997df54911"/>
          <a:stretch xmlns:a="http://schemas.openxmlformats.org/drawingml/2006/main"/>
        </p:blipFill>
        <p:spPr>
          <a:xfrm xmlns:a="http://schemas.openxmlformats.org/drawingml/2006/main">
            <a:off x="609600" y="1639491"/>
            <a:ext cx="5753100" cy="3236119"/>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6BDAD2F1-3FE2-4C35-9096-F4F75BE3B85B}"/>
              </a:ext>
            </a:extLst>
          </p:cNvPr>
          <p:cNvSpPr>
            <a:spLocks xmlns:a="http://schemas.openxmlformats.org/drawingml/2006/main" noGrp="1"/>
          </p:cNvSpPr>
          <p:nvPr/>
        </p:nvSpPr>
        <p:spPr>
          <a:xfrm xmlns:a="http://schemas.openxmlformats.org/drawingml/2006/main">
            <a:off x="609600" y="5048250"/>
            <a:ext cx="57531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344ACC"/>
                </a:solidFill>
                <a:latin typeface="DejaVu Sans"/>
                <a:ea typeface="DejaVu Sans"/>
                <a:cs typeface="DejaVu Sans"/>
              </a:defRPr>
            </a:pPr>
            <a:r>
              <a:rPr sz="2100" b="1">
                <a:solidFill>
                  <a:srgbClr val="344ACC"/>
                </a:solidFill>
                <a:latin typeface="DejaVu Sans"/>
                <a:ea typeface="DejaVu Sans"/>
                <a:cs typeface="DejaVu Sans"/>
              </a:rPr>
              <a:t>Everyday Korean in context</a:t>
            </a:r>
          </a:p>
        </p:txBody>
      </p:sp>
      <p:sp>
        <p:nvSpPr>
          <p:cNvPr id="5" name="">
            <a:extLst xmlns:a="http://schemas.openxmlformats.org/drawingml/2006/main">
              <a:ext uri="{FF2B5EF4-FFF2-40B4-BE49-F238E27FC236}">
                <a16:creationId xmlns:a16="http://schemas.microsoft.com/office/drawing/2014/main" id="{7BD7F079-2F88-4072-A072-9A4C776BA142}"/>
              </a:ext>
            </a:extLst>
          </p:cNvPr>
          <p:cNvSpPr>
            <a:spLocks xmlns:a="http://schemas.openxmlformats.org/drawingml/2006/main" noGrp="1"/>
          </p:cNvSpPr>
          <p:nvPr/>
        </p:nvSpPr>
        <p:spPr>
          <a:xfrm xmlns:a="http://schemas.openxmlformats.org/drawingml/2006/main">
            <a:off x="609600" y="5514975"/>
            <a:ext cx="57531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596578"/>
                </a:solidFill>
                <a:latin typeface="DejaVu Sans"/>
                <a:ea typeface="DejaVu Sans"/>
                <a:cs typeface="DejaVu Sans"/>
              </a:defRPr>
            </a:pPr>
            <a:r>
              <a:rPr sz="1575" b="0">
                <a:solidFill>
                  <a:srgbClr val="596578"/>
                </a:solidFill>
                <a:latin typeface="DejaVu Sans"/>
                <a:ea typeface="DejaVu Sans"/>
                <a:cs typeface="DejaVu Sans"/>
              </a:rPr>
              <a:t>Example: a TTMIK restaurant and cafe lesson</a:t>
            </a:r>
          </a:p>
        </p:txBody>
      </p:sp>
      <p:sp>
        <p:nvSpPr>
          <p:cNvPr id="6" name="">
            <a:extLst xmlns:a="http://schemas.openxmlformats.org/drawingml/2006/main">
              <a:ext uri="{FF2B5EF4-FFF2-40B4-BE49-F238E27FC236}">
                <a16:creationId xmlns:a16="http://schemas.microsoft.com/office/drawing/2014/main" id="{BA7C8665-EF58-406F-8782-334123EAFFE4}"/>
              </a:ext>
            </a:extLst>
          </p:cNvPr>
          <p:cNvSpPr>
            <a:spLocks xmlns:a="http://schemas.openxmlformats.org/drawingml/2006/main" noGrp="1"/>
          </p:cNvSpPr>
          <p:nvPr/>
        </p:nvSpPr>
        <p:spPr>
          <a:xfrm xmlns:a="http://schemas.openxmlformats.org/drawingml/2006/main">
            <a:off x="6962775" y="1695450"/>
            <a:ext cx="4476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4233D"/>
                </a:solidFill>
                <a:latin typeface="DejaVu Sans"/>
                <a:ea typeface="DejaVu Sans"/>
                <a:cs typeface="DejaVu Sans"/>
              </a:defRPr>
            </a:pPr>
            <a:r>
              <a:rPr sz="2175" b="1">
                <a:solidFill>
                  <a:srgbClr val="14233D"/>
                </a:solidFill>
                <a:latin typeface="DejaVu Sans"/>
                <a:ea typeface="DejaVu Sans"/>
                <a:cs typeface="DejaVu Sans"/>
              </a:rPr>
              <a:t>Beginners</a:t>
            </a:r>
          </a:p>
        </p:txBody>
      </p:sp>
      <p:sp>
        <p:nvSpPr>
          <p:cNvPr id="7" name="">
            <a:extLst xmlns:a="http://schemas.openxmlformats.org/drawingml/2006/main">
              <a:ext uri="{FF2B5EF4-FFF2-40B4-BE49-F238E27FC236}">
                <a16:creationId xmlns:a16="http://schemas.microsoft.com/office/drawing/2014/main" id="{C06614F2-071A-4C78-9214-B17788FBF502}"/>
              </a:ext>
            </a:extLst>
          </p:cNvPr>
          <p:cNvSpPr>
            <a:spLocks xmlns:a="http://schemas.openxmlformats.org/drawingml/2006/main" noGrp="1"/>
          </p:cNvSpPr>
          <p:nvPr/>
        </p:nvSpPr>
        <p:spPr>
          <a:xfrm xmlns:a="http://schemas.openxmlformats.org/drawingml/2006/main">
            <a:off x="6962775" y="2143125"/>
            <a:ext cx="4476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96578"/>
                </a:solidFill>
                <a:latin typeface="DejaVu Sans"/>
                <a:ea typeface="DejaVu Sans"/>
                <a:cs typeface="DejaVu Sans"/>
              </a:defRPr>
            </a:pPr>
            <a:r>
              <a:rPr sz="1800" b="0">
                <a:solidFill>
                  <a:srgbClr val="596578"/>
                </a:solidFill>
                <a:latin typeface="DejaVu Sans"/>
                <a:ea typeface="DejaVu Sans"/>
                <a:cs typeface="DejaVu Sans"/>
              </a:rPr>
              <a:t>Clear grammar and vocabulary</a:t>
            </a:r>
          </a:p>
        </p:txBody>
      </p:sp>
      <p:sp>
        <p:nvSpPr>
          <p:cNvPr id="8" name="">
            <a:extLst xmlns:a="http://schemas.openxmlformats.org/drawingml/2006/main">
              <a:ext uri="{FF2B5EF4-FFF2-40B4-BE49-F238E27FC236}">
                <a16:creationId xmlns:a16="http://schemas.microsoft.com/office/drawing/2014/main" id="{21EA56C9-E368-4502-A896-A923DCCCADB7}"/>
              </a:ext>
            </a:extLst>
          </p:cNvPr>
          <p:cNvSpPr>
            <a:spLocks xmlns:a="http://schemas.openxmlformats.org/drawingml/2006/main" noGrp="1"/>
          </p:cNvSpPr>
          <p:nvPr/>
        </p:nvSpPr>
        <p:spPr>
          <a:xfrm xmlns:a="http://schemas.openxmlformats.org/drawingml/2006/main">
            <a:off x="6962775" y="2705100"/>
            <a:ext cx="4476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4233D"/>
                </a:solidFill>
                <a:latin typeface="DejaVu Sans"/>
                <a:ea typeface="DejaVu Sans"/>
                <a:cs typeface="DejaVu Sans"/>
              </a:defRPr>
            </a:pPr>
            <a:r>
              <a:rPr sz="2175" b="1">
                <a:solidFill>
                  <a:srgbClr val="14233D"/>
                </a:solidFill>
                <a:latin typeface="DejaVu Sans"/>
                <a:ea typeface="DejaVu Sans"/>
                <a:cs typeface="DejaVu Sans"/>
              </a:rPr>
              <a:t>Intermediate learners</a:t>
            </a:r>
          </a:p>
        </p:txBody>
      </p:sp>
      <p:sp>
        <p:nvSpPr>
          <p:cNvPr id="9" name="">
            <a:extLst xmlns:a="http://schemas.openxmlformats.org/drawingml/2006/main">
              <a:ext uri="{FF2B5EF4-FFF2-40B4-BE49-F238E27FC236}">
                <a16:creationId xmlns:a16="http://schemas.microsoft.com/office/drawing/2014/main" id="{47705205-D5AB-4201-88F3-91A925B53932}"/>
              </a:ext>
            </a:extLst>
          </p:cNvPr>
          <p:cNvSpPr>
            <a:spLocks xmlns:a="http://schemas.openxmlformats.org/drawingml/2006/main" noGrp="1"/>
          </p:cNvSpPr>
          <p:nvPr/>
        </p:nvSpPr>
        <p:spPr>
          <a:xfrm xmlns:a="http://schemas.openxmlformats.org/drawingml/2006/main">
            <a:off x="6962775" y="3152775"/>
            <a:ext cx="4476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96578"/>
                </a:solidFill>
                <a:latin typeface="DejaVu Sans"/>
                <a:ea typeface="DejaVu Sans"/>
                <a:cs typeface="DejaVu Sans"/>
              </a:defRPr>
            </a:pPr>
            <a:r>
              <a:rPr sz="1800" b="0">
                <a:solidFill>
                  <a:srgbClr val="596578"/>
                </a:solidFill>
                <a:latin typeface="DejaVu Sans"/>
                <a:ea typeface="DejaVu Sans"/>
                <a:cs typeface="DejaVu Sans"/>
              </a:rPr>
              <a:t>Natural speech and listening</a:t>
            </a:r>
          </a:p>
        </p:txBody>
      </p:sp>
      <p:sp>
        <p:nvSpPr>
          <p:cNvPr id="10" name="">
            <a:extLst xmlns:a="http://schemas.openxmlformats.org/drawingml/2006/main">
              <a:ext uri="{FF2B5EF4-FFF2-40B4-BE49-F238E27FC236}">
                <a16:creationId xmlns:a16="http://schemas.microsoft.com/office/drawing/2014/main" id="{80D04011-8F58-4AC6-BCD6-FDCE13371A3A}"/>
              </a:ext>
            </a:extLst>
          </p:cNvPr>
          <p:cNvSpPr>
            <a:spLocks xmlns:a="http://schemas.openxmlformats.org/drawingml/2006/main" noGrp="1"/>
          </p:cNvSpPr>
          <p:nvPr/>
        </p:nvSpPr>
        <p:spPr>
          <a:xfrm xmlns:a="http://schemas.openxmlformats.org/drawingml/2006/main">
            <a:off x="6962775" y="3714750"/>
            <a:ext cx="4476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4233D"/>
                </a:solidFill>
                <a:latin typeface="DejaVu Sans"/>
                <a:ea typeface="DejaVu Sans"/>
                <a:cs typeface="DejaVu Sans"/>
              </a:defRPr>
            </a:pPr>
            <a:r>
              <a:rPr sz="2175" b="1">
                <a:solidFill>
                  <a:srgbClr val="14233D"/>
                </a:solidFill>
                <a:latin typeface="DejaVu Sans"/>
                <a:ea typeface="DejaVu Sans"/>
                <a:cs typeface="DejaVu Sans"/>
              </a:rPr>
              <a:t>Travelers / culture learners</a:t>
            </a:r>
          </a:p>
        </p:txBody>
      </p:sp>
      <p:sp>
        <p:nvSpPr>
          <p:cNvPr id="11" name="">
            <a:extLst xmlns:a="http://schemas.openxmlformats.org/drawingml/2006/main">
              <a:ext uri="{FF2B5EF4-FFF2-40B4-BE49-F238E27FC236}">
                <a16:creationId xmlns:a16="http://schemas.microsoft.com/office/drawing/2014/main" id="{F41442C0-6FEC-4335-ADF5-26C2D7A18C30}"/>
              </a:ext>
            </a:extLst>
          </p:cNvPr>
          <p:cNvSpPr>
            <a:spLocks xmlns:a="http://schemas.openxmlformats.org/drawingml/2006/main" noGrp="1"/>
          </p:cNvSpPr>
          <p:nvPr/>
        </p:nvSpPr>
        <p:spPr>
          <a:xfrm xmlns:a="http://schemas.openxmlformats.org/drawingml/2006/main">
            <a:off x="6962775" y="4162425"/>
            <a:ext cx="4476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96578"/>
                </a:solidFill>
                <a:latin typeface="DejaVu Sans"/>
                <a:ea typeface="DejaVu Sans"/>
                <a:cs typeface="DejaVu Sans"/>
              </a:defRPr>
            </a:pPr>
            <a:r>
              <a:rPr sz="1800" b="0">
                <a:solidFill>
                  <a:srgbClr val="596578"/>
                </a:solidFill>
                <a:latin typeface="DejaVu Sans"/>
                <a:ea typeface="DejaVu Sans"/>
                <a:cs typeface="DejaVu Sans"/>
              </a:rPr>
              <a:t>Useful phrases and context</a:t>
            </a:r>
          </a:p>
        </p:txBody>
      </p:sp>
      <p:sp>
        <p:nvSpPr>
          <p:cNvPr id="12" name="">
            <a:extLst xmlns:a="http://schemas.openxmlformats.org/drawingml/2006/main">
              <a:ext uri="{FF2B5EF4-FFF2-40B4-BE49-F238E27FC236}">
                <a16:creationId xmlns:a16="http://schemas.microsoft.com/office/drawing/2014/main" id="{3035820A-A588-417A-BEFB-C538283132BC}"/>
              </a:ext>
            </a:extLst>
          </p:cNvPr>
          <p:cNvSpPr>
            <a:spLocks xmlns:a="http://schemas.openxmlformats.org/drawingml/2006/main" noGrp="1"/>
          </p:cNvSpPr>
          <p:nvPr/>
        </p:nvSpPr>
        <p:spPr>
          <a:xfrm xmlns:a="http://schemas.openxmlformats.org/drawingml/2006/main">
            <a:off x="6962775" y="4724400"/>
            <a:ext cx="4476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4233D"/>
                </a:solidFill>
                <a:latin typeface="DejaVu Sans"/>
                <a:ea typeface="DejaVu Sans"/>
                <a:cs typeface="DejaVu Sans"/>
              </a:defRPr>
            </a:pPr>
            <a:r>
              <a:rPr sz="2175" b="1">
                <a:solidFill>
                  <a:srgbClr val="14233D"/>
                </a:solidFill>
                <a:latin typeface="DejaVu Sans"/>
                <a:ea typeface="DejaVu Sans"/>
                <a:cs typeface="DejaVu Sans"/>
              </a:rPr>
              <a:t>TOPIK learners*</a:t>
            </a:r>
          </a:p>
        </p:txBody>
      </p:sp>
      <p:sp>
        <p:nvSpPr>
          <p:cNvPr id="13" name="">
            <a:extLst xmlns:a="http://schemas.openxmlformats.org/drawingml/2006/main">
              <a:ext uri="{FF2B5EF4-FFF2-40B4-BE49-F238E27FC236}">
                <a16:creationId xmlns:a16="http://schemas.microsoft.com/office/drawing/2014/main" id="{32035629-557A-4B60-8DB5-E330C24A7B4E}"/>
              </a:ext>
            </a:extLst>
          </p:cNvPr>
          <p:cNvSpPr>
            <a:spLocks xmlns:a="http://schemas.openxmlformats.org/drawingml/2006/main" noGrp="1"/>
          </p:cNvSpPr>
          <p:nvPr/>
        </p:nvSpPr>
        <p:spPr>
          <a:xfrm xmlns:a="http://schemas.openxmlformats.org/drawingml/2006/main">
            <a:off x="6962775" y="5172075"/>
            <a:ext cx="4476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96578"/>
                </a:solidFill>
                <a:latin typeface="DejaVu Sans"/>
                <a:ea typeface="DejaVu Sans"/>
                <a:cs typeface="DejaVu Sans"/>
              </a:defRPr>
            </a:pPr>
            <a:r>
              <a:rPr sz="1800" b="0">
                <a:solidFill>
                  <a:srgbClr val="596578"/>
                </a:solidFill>
                <a:latin typeface="DejaVu Sans"/>
                <a:ea typeface="DejaVu Sans"/>
                <a:cs typeface="DejaVu Sans"/>
              </a:rPr>
              <a:t>Supplementary exam practice</a:t>
            </a:r>
          </a:p>
        </p:txBody>
      </p:sp>
      <p:sp>
        <p:nvSpPr>
          <p:cNvPr id="14" name="">
            <a:extLst xmlns:a="http://schemas.openxmlformats.org/drawingml/2006/main">
              <a:ext uri="{FF2B5EF4-FFF2-40B4-BE49-F238E27FC236}">
                <a16:creationId xmlns:a16="http://schemas.microsoft.com/office/drawing/2014/main" id="{074E0B65-D8DB-4602-8F2D-A45B68C9F9C5}"/>
              </a:ext>
            </a:extLst>
          </p:cNvPr>
          <p:cNvSpPr>
            <a:spLocks xmlns:a="http://schemas.openxmlformats.org/drawingml/2006/main" noGrp="1"/>
          </p:cNvSpPr>
          <p:nvPr/>
        </p:nvSpPr>
        <p:spPr>
          <a:xfrm xmlns:a="http://schemas.openxmlformats.org/drawingml/2006/main">
            <a:off x="609600" y="6153150"/>
            <a:ext cx="103822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96578"/>
                </a:solidFill>
                <a:latin typeface="DejaVu Sans"/>
                <a:ea typeface="DejaVu Sans"/>
                <a:cs typeface="DejaVu Sans"/>
              </a:defRPr>
            </a:pPr>
            <a:r>
              <a:rPr sz="1350" b="0">
                <a:solidFill>
                  <a:srgbClr val="596578"/>
                </a:solidFill>
                <a:latin typeface="DejaVu Sans"/>
                <a:ea typeface="DejaVu Sans"/>
                <a:cs typeface="DejaVu Sans"/>
              </a:rPr>
              <a:t>*Potential users. A complete TOPIK syllabus needs additional resources.</a:t>
            </a:r>
          </a:p>
        </p:txBody>
      </p:sp>
    </p:spTree>
    <p:extLst>
      <p:ext uri="{BB962C8B-B14F-4D97-AF65-F5344CB8AC3E}">
        <p14:creationId xmlns:p14="http://schemas.microsoft.com/office/powerpoint/2010/main" val="1116533363"/>
      </p:ext>
    </p:extLst>
  </p:cSld>
</p:sld>
</file>

<file path=ppt/slides/slide3.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cxnSp>
        <p:nvCxnSpPr>
          <p:cNvPr id="27" name=""/>
          <p:cNvCxnSpPr>
            <a:stCxn xmlns:a="http://schemas.openxmlformats.org/drawingml/2006/main" id="15" idx="1"/>
            <a:endCxn xmlns:a="http://schemas.openxmlformats.org/drawingml/2006/main" id="18" idx="3"/>
          </p:cNvCxnSpPr>
          <p:nvPr/>
        </p:nvCxnSpPr>
        <p:spPr>
          <a:xfrm xmlns:a="http://schemas.openxmlformats.org/drawingml/2006/main" flipH="1">
            <a:off x="3810000" y="4352925"/>
            <a:ext cx="685800" cy="0"/>
          </a:xfrm>
          <a:prstGeom xmlns:a="http://schemas.openxmlformats.org/drawingml/2006/main" prst="straightConnector1">
            <a:avLst/>
          </a:prstGeom>
          <a:ln xmlns:a="http://schemas.openxmlformats.org/drawingml/2006/main" w="28575">
            <a:solidFill>
              <a:srgbClr val="344ACC"/>
            </a:solidFill>
            <a:tailEnd type="triangle" w="med" len="med"/>
          </a:ln>
        </p:spPr>
      </p:cxnSp>
      <p:cxnSp>
        <p:nvCxnSpPr>
          <p:cNvPr id="28" name=""/>
          <p:cNvCxnSpPr>
            <a:stCxn xmlns:a="http://schemas.openxmlformats.org/drawingml/2006/main" id="12" idx="1"/>
            <a:endCxn xmlns:a="http://schemas.openxmlformats.org/drawingml/2006/main" id="15" idx="3"/>
          </p:cNvCxnSpPr>
          <p:nvPr/>
        </p:nvCxnSpPr>
        <p:spPr>
          <a:xfrm xmlns:a="http://schemas.openxmlformats.org/drawingml/2006/main" flipH="1">
            <a:off x="7696200" y="4352925"/>
            <a:ext cx="685800" cy="0"/>
          </a:xfrm>
          <a:prstGeom xmlns:a="http://schemas.openxmlformats.org/drawingml/2006/main" prst="straightConnector1">
            <a:avLst/>
          </a:prstGeom>
          <a:ln xmlns:a="http://schemas.openxmlformats.org/drawingml/2006/main" w="28575">
            <a:solidFill>
              <a:srgbClr val="344ACC"/>
            </a:solidFill>
            <a:tailEnd type="triangle" w="med" len="med"/>
          </a:ln>
        </p:spPr>
      </p:cxnSp>
      <p:cxnSp>
        <p:nvCxnSpPr>
          <p:cNvPr id="29" name=""/>
          <p:cNvCxnSpPr>
            <a:stCxn xmlns:a="http://schemas.openxmlformats.org/drawingml/2006/main" id="9" idx="2"/>
            <a:endCxn xmlns:a="http://schemas.openxmlformats.org/drawingml/2006/main" id="12" idx="0"/>
          </p:cNvCxnSpPr>
          <p:nvPr/>
        </p:nvCxnSpPr>
        <p:spPr>
          <a:xfrm xmlns:a="http://schemas.openxmlformats.org/drawingml/2006/main">
            <a:off x="9982200" y="3000375"/>
            <a:ext cx="0" cy="742950"/>
          </a:xfrm>
          <a:prstGeom xmlns:a="http://schemas.openxmlformats.org/drawingml/2006/main" prst="straightConnector1">
            <a:avLst/>
          </a:prstGeom>
          <a:ln xmlns:a="http://schemas.openxmlformats.org/drawingml/2006/main" w="28575">
            <a:solidFill>
              <a:srgbClr val="344ACC"/>
            </a:solidFill>
            <a:tailEnd type="triangle" w="med" len="med"/>
          </a:ln>
        </p:spPr>
      </p:cxnSp>
      <p:cxnSp>
        <p:nvCxnSpPr>
          <p:cNvPr id="30" name=""/>
          <p:cNvCxnSpPr>
            <a:stCxn xmlns:a="http://schemas.openxmlformats.org/drawingml/2006/main" id="6" idx="3"/>
            <a:endCxn xmlns:a="http://schemas.openxmlformats.org/drawingml/2006/main" id="9" idx="1"/>
          </p:cNvCxnSpPr>
          <p:nvPr/>
        </p:nvCxnSpPr>
        <p:spPr>
          <a:xfrm xmlns:a="http://schemas.openxmlformats.org/drawingml/2006/main">
            <a:off x="7696200" y="2390775"/>
            <a:ext cx="685800" cy="0"/>
          </a:xfrm>
          <a:prstGeom xmlns:a="http://schemas.openxmlformats.org/drawingml/2006/main" prst="straightConnector1">
            <a:avLst/>
          </a:prstGeom>
          <a:ln xmlns:a="http://schemas.openxmlformats.org/drawingml/2006/main" w="28575">
            <a:solidFill>
              <a:srgbClr val="344ACC"/>
            </a:solidFill>
            <a:tailEnd type="triangle" w="med" len="med"/>
          </a:ln>
        </p:spPr>
      </p:cxnSp>
      <p:cxnSp>
        <p:nvCxnSpPr>
          <p:cNvPr id="31" name=""/>
          <p:cNvCxnSpPr>
            <a:stCxn xmlns:a="http://schemas.openxmlformats.org/drawingml/2006/main" id="3" idx="3"/>
            <a:endCxn xmlns:a="http://schemas.openxmlformats.org/drawingml/2006/main" id="6" idx="1"/>
          </p:cNvCxnSpPr>
          <p:nvPr/>
        </p:nvCxnSpPr>
        <p:spPr>
          <a:xfrm xmlns:a="http://schemas.openxmlformats.org/drawingml/2006/main">
            <a:off x="3810000" y="2390775"/>
            <a:ext cx="685800" cy="0"/>
          </a:xfrm>
          <a:prstGeom xmlns:a="http://schemas.openxmlformats.org/drawingml/2006/main" prst="straightConnector1">
            <a:avLst/>
          </a:prstGeom>
          <a:ln xmlns:a="http://schemas.openxmlformats.org/drawingml/2006/main" w="28575">
            <a:solidFill>
              <a:srgbClr val="344ACC"/>
            </a:solidFill>
            <a:tailEnd type="triangle" w="med" len="med"/>
          </a:ln>
        </p:spPr>
      </p:cxnSp>
      <p:sp>
        <p:nvSpPr>
          <p:cNvPr id="32" name="">
            <a:extLst xmlns:a="http://schemas.openxmlformats.org/drawingml/2006/main">
              <a:ext uri="{FF2B5EF4-FFF2-40B4-BE49-F238E27FC236}">
                <a16:creationId xmlns:a16="http://schemas.microsoft.com/office/drawing/2014/main" id="{731C012A-1691-4CAB-AFD1-9D50868EE3F5}"/>
              </a:ext>
            </a:extLst>
          </p:cNvPr>
          <p:cNvSpPr>
            <a:spLocks xmlns:a="http://schemas.openxmlformats.org/drawingml/2006/main" noGrp="1"/>
          </p:cNvSpPr>
          <p:nvPr/>
        </p:nvSpPr>
        <p:spPr>
          <a:xfrm xmlns:a="http://schemas.openxmlformats.org/drawingml/2006/main">
            <a:off x="609600" y="523875"/>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4233D"/>
                </a:solidFill>
                <a:latin typeface="DejaVu Sans"/>
                <a:ea typeface="DejaVu Sans"/>
                <a:cs typeface="DejaVu Sans"/>
              </a:defRPr>
            </a:pPr>
            <a:r>
              <a:rPr sz="3300" b="1">
                <a:solidFill>
                  <a:srgbClr val="14233D"/>
                </a:solidFill>
                <a:latin typeface="DejaVu Sans"/>
                <a:ea typeface="DejaVu Sans"/>
                <a:cs typeface="DejaVu Sans"/>
              </a:rPr>
              <a:t>How does the system help users learn?</a:t>
            </a:r>
          </a:p>
        </p:txBody>
      </p:sp>
      <p:sp>
        <p:nvSpPr>
          <p:cNvPr id="2" name="">
            <a:extLst xmlns:a="http://schemas.openxmlformats.org/drawingml/2006/main">
              <a:ext uri="{FF2B5EF4-FFF2-40B4-BE49-F238E27FC236}">
                <a16:creationId xmlns:a16="http://schemas.microsoft.com/office/drawing/2014/main" id="{2DD4464C-B4F5-47B5-988B-1B64D0F3E5B2}"/>
              </a:ext>
            </a:extLst>
          </p:cNvPr>
          <p:cNvSpPr>
            <a:spLocks xmlns:a="http://schemas.openxmlformats.org/drawingml/2006/main" noGrp="1"/>
          </p:cNvSpPr>
          <p:nvPr/>
        </p:nvSpPr>
        <p:spPr>
          <a:xfrm xmlns:a="http://schemas.openxmlformats.org/drawingml/2006/main">
            <a:off x="11049000" y="6315075"/>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96578"/>
                </a:solidFill>
                <a:latin typeface="DejaVu Sans"/>
                <a:ea typeface="DejaVu Sans"/>
                <a:cs typeface="DejaVu Sans"/>
              </a:defRPr>
            </a:pPr>
            <a:r>
              <a:rPr sz="1350" b="0">
                <a:solidFill>
                  <a:srgbClr val="596578"/>
                </a:solidFill>
                <a:latin typeface="DejaVu Sans"/>
                <a:ea typeface="DejaVu Sans"/>
                <a:cs typeface="DejaVu Sans"/>
              </a:rPr>
              <a:t>03</a:t>
            </a:r>
          </a:p>
        </p:txBody>
      </p:sp>
      <p:sp>
        <p:nvSpPr>
          <p:cNvPr id="3" name="">
            <a:extLst xmlns:a="http://schemas.openxmlformats.org/drawingml/2006/main">
              <a:ext uri="{FF2B5EF4-FFF2-40B4-BE49-F238E27FC236}">
                <a16:creationId xmlns:a16="http://schemas.microsoft.com/office/drawing/2014/main" id="{FBE3D5B3-33E2-4787-917A-C19D67DD1F73}"/>
              </a:ext>
            </a:extLst>
          </p:cNvPr>
          <p:cNvSpPr>
            <a:spLocks xmlns:a="http://schemas.openxmlformats.org/drawingml/2006/main" noGrp="1"/>
          </p:cNvSpPr>
          <p:nvPr/>
        </p:nvSpPr>
        <p:spPr>
          <a:xfrm xmlns:a="http://schemas.openxmlformats.org/drawingml/2006/main">
            <a:off x="609600" y="1781175"/>
            <a:ext cx="3200400" cy="1219200"/>
          </a:xfrm>
          <a:prstGeom xmlns:a="http://schemas.openxmlformats.org/drawingml/2006/main" prst="rect">
            <a:avLst/>
          </a:prstGeom>
          <a:solidFill xmlns:a="http://schemas.openxmlformats.org/drawingml/2006/main">
            <a:srgbClr val="E7EBF5"/>
          </a:solidFill>
          <a:ln xmlns:a="http://schemas.openxmlformats.org/drawingml/2006/main" w="9525">
            <a:solidFill>
              <a:srgbClr val="DBDDD9"/>
            </a:solidFill>
          </a:ln>
        </p:spPr>
      </p:sp>
      <p:sp>
        <p:nvSpPr>
          <p:cNvPr id="4" name="">
            <a:extLst xmlns:a="http://schemas.openxmlformats.org/drawingml/2006/main">
              <a:ext uri="{FF2B5EF4-FFF2-40B4-BE49-F238E27FC236}">
                <a16:creationId xmlns:a16="http://schemas.microsoft.com/office/drawing/2014/main" id="{7C562DA8-2453-4E2A-81B0-A7DF09B05C87}"/>
              </a:ext>
            </a:extLst>
          </p:cNvPr>
          <p:cNvSpPr>
            <a:spLocks xmlns:a="http://schemas.openxmlformats.org/drawingml/2006/main" noGrp="1"/>
          </p:cNvSpPr>
          <p:nvPr/>
        </p:nvSpPr>
        <p:spPr>
          <a:xfrm xmlns:a="http://schemas.openxmlformats.org/drawingml/2006/main">
            <a:off x="781050" y="1943100"/>
            <a:ext cx="28765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4233D"/>
                </a:solidFill>
                <a:latin typeface="DejaVu Sans"/>
                <a:ea typeface="DejaVu Sans"/>
                <a:cs typeface="DejaVu Sans"/>
              </a:defRPr>
            </a:pPr>
            <a:r>
              <a:rPr sz="2025" b="1">
                <a:solidFill>
                  <a:srgbClr val="14233D"/>
                </a:solidFill>
                <a:latin typeface="DejaVu Sans"/>
                <a:ea typeface="DejaVu Sans"/>
                <a:cs typeface="DejaVu Sans"/>
              </a:rPr>
              <a:t>1  Find a lesson</a:t>
            </a:r>
          </a:p>
        </p:txBody>
      </p:sp>
      <p:sp>
        <p:nvSpPr>
          <p:cNvPr id="5" name="">
            <a:extLst xmlns:a="http://schemas.openxmlformats.org/drawingml/2006/main">
              <a:ext uri="{FF2B5EF4-FFF2-40B4-BE49-F238E27FC236}">
                <a16:creationId xmlns:a16="http://schemas.microsoft.com/office/drawing/2014/main" id="{A629B247-7824-4A5F-A094-97DF15190665}"/>
              </a:ext>
            </a:extLst>
          </p:cNvPr>
          <p:cNvSpPr>
            <a:spLocks xmlns:a="http://schemas.openxmlformats.org/drawingml/2006/main" noGrp="1"/>
          </p:cNvSpPr>
          <p:nvPr/>
        </p:nvSpPr>
        <p:spPr>
          <a:xfrm xmlns:a="http://schemas.openxmlformats.org/drawingml/2006/main">
            <a:off x="781050" y="2457450"/>
            <a:ext cx="28765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96578"/>
                </a:solidFill>
                <a:latin typeface="DejaVu Sans"/>
                <a:ea typeface="DejaVu Sans"/>
                <a:cs typeface="DejaVu Sans"/>
              </a:defRPr>
            </a:pPr>
            <a:r>
              <a:rPr sz="1650" b="0">
                <a:solidFill>
                  <a:srgbClr val="596578"/>
                </a:solidFill>
                <a:latin typeface="DejaVu Sans"/>
                <a:ea typeface="DejaVu Sans"/>
                <a:cs typeface="DejaVu Sans"/>
              </a:rPr>
              <a:t>Search a topic or playlist</a:t>
            </a:r>
          </a:p>
        </p:txBody>
      </p:sp>
      <p:sp>
        <p:nvSpPr>
          <p:cNvPr id="6" name="">
            <a:extLst xmlns:a="http://schemas.openxmlformats.org/drawingml/2006/main">
              <a:ext uri="{FF2B5EF4-FFF2-40B4-BE49-F238E27FC236}">
                <a16:creationId xmlns:a16="http://schemas.microsoft.com/office/drawing/2014/main" id="{FE1E6C58-96AF-44BD-9DCC-D2129988B55B}"/>
              </a:ext>
            </a:extLst>
          </p:cNvPr>
          <p:cNvSpPr>
            <a:spLocks xmlns:a="http://schemas.openxmlformats.org/drawingml/2006/main" noGrp="1"/>
          </p:cNvSpPr>
          <p:nvPr/>
        </p:nvSpPr>
        <p:spPr>
          <a:xfrm xmlns:a="http://schemas.openxmlformats.org/drawingml/2006/main">
            <a:off x="4495800" y="1781175"/>
            <a:ext cx="3200400" cy="1219200"/>
          </a:xfrm>
          <a:prstGeom xmlns:a="http://schemas.openxmlformats.org/drawingml/2006/main" prst="rect">
            <a:avLst/>
          </a:prstGeom>
          <a:solidFill xmlns:a="http://schemas.openxmlformats.org/drawingml/2006/main">
            <a:srgbClr val="E7EBF5"/>
          </a:solidFill>
          <a:ln xmlns:a="http://schemas.openxmlformats.org/drawingml/2006/main" w="9525">
            <a:solidFill>
              <a:srgbClr val="DBDDD9"/>
            </a:solidFill>
          </a:ln>
        </p:spPr>
      </p:sp>
      <p:sp>
        <p:nvSpPr>
          <p:cNvPr id="7" name="">
            <a:extLst xmlns:a="http://schemas.openxmlformats.org/drawingml/2006/main">
              <a:ext uri="{FF2B5EF4-FFF2-40B4-BE49-F238E27FC236}">
                <a16:creationId xmlns:a16="http://schemas.microsoft.com/office/drawing/2014/main" id="{6CD4D1F1-BCF2-4881-80C5-1A1CD0581852}"/>
              </a:ext>
            </a:extLst>
          </p:cNvPr>
          <p:cNvSpPr>
            <a:spLocks xmlns:a="http://schemas.openxmlformats.org/drawingml/2006/main" noGrp="1"/>
          </p:cNvSpPr>
          <p:nvPr/>
        </p:nvSpPr>
        <p:spPr>
          <a:xfrm xmlns:a="http://schemas.openxmlformats.org/drawingml/2006/main">
            <a:off x="4667250" y="1943100"/>
            <a:ext cx="28765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4233D"/>
                </a:solidFill>
                <a:latin typeface="DejaVu Sans"/>
                <a:ea typeface="DejaVu Sans"/>
                <a:cs typeface="DejaVu Sans"/>
              </a:defRPr>
            </a:pPr>
            <a:r>
              <a:rPr sz="2025" b="1">
                <a:solidFill>
                  <a:srgbClr val="14233D"/>
                </a:solidFill>
                <a:latin typeface="DejaVu Sans"/>
                <a:ea typeface="DejaVu Sans"/>
                <a:cs typeface="DejaVu Sans"/>
              </a:rPr>
              <a:t>2  Watch / listen</a:t>
            </a:r>
          </a:p>
        </p:txBody>
      </p:sp>
      <p:sp>
        <p:nvSpPr>
          <p:cNvPr id="8" name="">
            <a:extLst xmlns:a="http://schemas.openxmlformats.org/drawingml/2006/main">
              <a:ext uri="{FF2B5EF4-FFF2-40B4-BE49-F238E27FC236}">
                <a16:creationId xmlns:a16="http://schemas.microsoft.com/office/drawing/2014/main" id="{08AB6690-B2E5-4885-BE09-6EB3506FB74E}"/>
              </a:ext>
            </a:extLst>
          </p:cNvPr>
          <p:cNvSpPr>
            <a:spLocks xmlns:a="http://schemas.openxmlformats.org/drawingml/2006/main" noGrp="1"/>
          </p:cNvSpPr>
          <p:nvPr/>
        </p:nvSpPr>
        <p:spPr>
          <a:xfrm xmlns:a="http://schemas.openxmlformats.org/drawingml/2006/main">
            <a:off x="4667250" y="2457450"/>
            <a:ext cx="28765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96578"/>
                </a:solidFill>
                <a:latin typeface="DejaVu Sans"/>
                <a:ea typeface="DejaVu Sans"/>
                <a:cs typeface="DejaVu Sans"/>
              </a:defRPr>
            </a:pPr>
            <a:r>
              <a:rPr sz="1650" b="0">
                <a:solidFill>
                  <a:srgbClr val="596578"/>
                </a:solidFill>
                <a:latin typeface="DejaVu Sans"/>
                <a:ea typeface="DejaVu Sans"/>
                <a:cs typeface="DejaVu Sans"/>
              </a:rPr>
              <a:t>Follow examples and captions</a:t>
            </a:r>
          </a:p>
        </p:txBody>
      </p:sp>
      <p:sp>
        <p:nvSpPr>
          <p:cNvPr id="9" name="">
            <a:extLst xmlns:a="http://schemas.openxmlformats.org/drawingml/2006/main">
              <a:ext uri="{FF2B5EF4-FFF2-40B4-BE49-F238E27FC236}">
                <a16:creationId xmlns:a16="http://schemas.microsoft.com/office/drawing/2014/main" id="{9E720D5F-6632-41C4-A81C-0704910162A8}"/>
              </a:ext>
            </a:extLst>
          </p:cNvPr>
          <p:cNvSpPr>
            <a:spLocks xmlns:a="http://schemas.openxmlformats.org/drawingml/2006/main" noGrp="1"/>
          </p:cNvSpPr>
          <p:nvPr/>
        </p:nvSpPr>
        <p:spPr>
          <a:xfrm xmlns:a="http://schemas.openxmlformats.org/drawingml/2006/main">
            <a:off x="8382000" y="1781175"/>
            <a:ext cx="3200400" cy="1219200"/>
          </a:xfrm>
          <a:prstGeom xmlns:a="http://schemas.openxmlformats.org/drawingml/2006/main" prst="rect">
            <a:avLst/>
          </a:prstGeom>
          <a:solidFill xmlns:a="http://schemas.openxmlformats.org/drawingml/2006/main">
            <a:srgbClr val="E7EBF5"/>
          </a:solidFill>
          <a:ln xmlns:a="http://schemas.openxmlformats.org/drawingml/2006/main" w="9525">
            <a:solidFill>
              <a:srgbClr val="DBDDD9"/>
            </a:solidFill>
          </a:ln>
        </p:spPr>
      </p:sp>
      <p:sp>
        <p:nvSpPr>
          <p:cNvPr id="10" name="">
            <a:extLst xmlns:a="http://schemas.openxmlformats.org/drawingml/2006/main">
              <a:ext uri="{FF2B5EF4-FFF2-40B4-BE49-F238E27FC236}">
                <a16:creationId xmlns:a16="http://schemas.microsoft.com/office/drawing/2014/main" id="{586B906D-C0F7-4811-AA1F-D0D0F7A19E41}"/>
              </a:ext>
            </a:extLst>
          </p:cNvPr>
          <p:cNvSpPr>
            <a:spLocks xmlns:a="http://schemas.openxmlformats.org/drawingml/2006/main" noGrp="1"/>
          </p:cNvSpPr>
          <p:nvPr/>
        </p:nvSpPr>
        <p:spPr>
          <a:xfrm xmlns:a="http://schemas.openxmlformats.org/drawingml/2006/main">
            <a:off x="8553450" y="1943100"/>
            <a:ext cx="28765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4233D"/>
                </a:solidFill>
                <a:latin typeface="DejaVu Sans"/>
                <a:ea typeface="DejaVu Sans"/>
                <a:cs typeface="DejaVu Sans"/>
              </a:defRPr>
            </a:pPr>
            <a:r>
              <a:rPr sz="2025" b="1">
                <a:solidFill>
                  <a:srgbClr val="14233D"/>
                </a:solidFill>
                <a:latin typeface="DejaVu Sans"/>
                <a:ea typeface="DejaVu Sans"/>
                <a:cs typeface="DejaVu Sans"/>
              </a:rPr>
              <a:t>3  Learn</a:t>
            </a:r>
          </a:p>
        </p:txBody>
      </p:sp>
      <p:sp>
        <p:nvSpPr>
          <p:cNvPr id="11" name="">
            <a:extLst xmlns:a="http://schemas.openxmlformats.org/drawingml/2006/main">
              <a:ext uri="{FF2B5EF4-FFF2-40B4-BE49-F238E27FC236}">
                <a16:creationId xmlns:a16="http://schemas.microsoft.com/office/drawing/2014/main" id="{30152B20-6393-498A-A60A-6019B83A2AB1}"/>
              </a:ext>
            </a:extLst>
          </p:cNvPr>
          <p:cNvSpPr>
            <a:spLocks xmlns:a="http://schemas.openxmlformats.org/drawingml/2006/main" noGrp="1"/>
          </p:cNvSpPr>
          <p:nvPr/>
        </p:nvSpPr>
        <p:spPr>
          <a:xfrm xmlns:a="http://schemas.openxmlformats.org/drawingml/2006/main">
            <a:off x="8553450" y="2457450"/>
            <a:ext cx="28765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96578"/>
                </a:solidFill>
                <a:latin typeface="DejaVu Sans"/>
                <a:ea typeface="DejaVu Sans"/>
                <a:cs typeface="DejaVu Sans"/>
              </a:defRPr>
            </a:pPr>
            <a:r>
              <a:rPr sz="1650" b="0">
                <a:solidFill>
                  <a:srgbClr val="596578"/>
                </a:solidFill>
                <a:latin typeface="DejaVu Sans"/>
                <a:ea typeface="DejaVu Sans"/>
                <a:cs typeface="DejaVu Sans"/>
              </a:rPr>
              <a:t>Note vocabulary and grammar</a:t>
            </a:r>
          </a:p>
        </p:txBody>
      </p:sp>
      <p:sp>
        <p:nvSpPr>
          <p:cNvPr id="12" name="">
            <a:extLst xmlns:a="http://schemas.openxmlformats.org/drawingml/2006/main">
              <a:ext uri="{FF2B5EF4-FFF2-40B4-BE49-F238E27FC236}">
                <a16:creationId xmlns:a16="http://schemas.microsoft.com/office/drawing/2014/main" id="{9928D145-8BC5-4858-B812-AAE7A720B79D}"/>
              </a:ext>
            </a:extLst>
          </p:cNvPr>
          <p:cNvSpPr>
            <a:spLocks xmlns:a="http://schemas.openxmlformats.org/drawingml/2006/main" noGrp="1"/>
          </p:cNvSpPr>
          <p:nvPr/>
        </p:nvSpPr>
        <p:spPr>
          <a:xfrm xmlns:a="http://schemas.openxmlformats.org/drawingml/2006/main">
            <a:off x="8382000" y="3743325"/>
            <a:ext cx="3200400" cy="1219200"/>
          </a:xfrm>
          <a:prstGeom xmlns:a="http://schemas.openxmlformats.org/drawingml/2006/main" prst="rect">
            <a:avLst/>
          </a:prstGeom>
          <a:solidFill xmlns:a="http://schemas.openxmlformats.org/drawingml/2006/main">
            <a:srgbClr val="F0E6DE"/>
          </a:solidFill>
          <a:ln xmlns:a="http://schemas.openxmlformats.org/drawingml/2006/main" w="9525">
            <a:solidFill>
              <a:srgbClr val="DBDDD9"/>
            </a:solidFill>
          </a:ln>
        </p:spPr>
      </p:sp>
      <p:sp>
        <p:nvSpPr>
          <p:cNvPr id="13" name="">
            <a:extLst xmlns:a="http://schemas.openxmlformats.org/drawingml/2006/main">
              <a:ext uri="{FF2B5EF4-FFF2-40B4-BE49-F238E27FC236}">
                <a16:creationId xmlns:a16="http://schemas.microsoft.com/office/drawing/2014/main" id="{49322A85-12B9-4CDB-A253-72C25235F41D}"/>
              </a:ext>
            </a:extLst>
          </p:cNvPr>
          <p:cNvSpPr>
            <a:spLocks xmlns:a="http://schemas.openxmlformats.org/drawingml/2006/main" noGrp="1"/>
          </p:cNvSpPr>
          <p:nvPr/>
        </p:nvSpPr>
        <p:spPr>
          <a:xfrm xmlns:a="http://schemas.openxmlformats.org/drawingml/2006/main">
            <a:off x="8553450" y="3905250"/>
            <a:ext cx="28765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4233D"/>
                </a:solidFill>
                <a:latin typeface="DejaVu Sans"/>
                <a:ea typeface="DejaVu Sans"/>
                <a:cs typeface="DejaVu Sans"/>
              </a:defRPr>
            </a:pPr>
            <a:r>
              <a:rPr sz="2025" b="1">
                <a:solidFill>
                  <a:srgbClr val="14233D"/>
                </a:solidFill>
                <a:latin typeface="DejaVu Sans"/>
                <a:ea typeface="DejaVu Sans"/>
                <a:cs typeface="DejaVu Sans"/>
              </a:rPr>
              <a:t>4  Practice</a:t>
            </a:r>
          </a:p>
        </p:txBody>
      </p:sp>
      <p:sp>
        <p:nvSpPr>
          <p:cNvPr id="14" name="">
            <a:extLst xmlns:a="http://schemas.openxmlformats.org/drawingml/2006/main">
              <a:ext uri="{FF2B5EF4-FFF2-40B4-BE49-F238E27FC236}">
                <a16:creationId xmlns:a16="http://schemas.microsoft.com/office/drawing/2014/main" id="{9EF3EAF0-53DB-4C88-8425-3EA15B8A7E38}"/>
              </a:ext>
            </a:extLst>
          </p:cNvPr>
          <p:cNvSpPr>
            <a:spLocks xmlns:a="http://schemas.openxmlformats.org/drawingml/2006/main" noGrp="1"/>
          </p:cNvSpPr>
          <p:nvPr/>
        </p:nvSpPr>
        <p:spPr>
          <a:xfrm xmlns:a="http://schemas.openxmlformats.org/drawingml/2006/main">
            <a:off x="8553450" y="4419600"/>
            <a:ext cx="28765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96578"/>
                </a:solidFill>
                <a:latin typeface="DejaVu Sans"/>
                <a:ea typeface="DejaVu Sans"/>
                <a:cs typeface="DejaVu Sans"/>
              </a:defRPr>
            </a:pPr>
            <a:r>
              <a:rPr sz="1650" b="0">
                <a:solidFill>
                  <a:srgbClr val="596578"/>
                </a:solidFill>
                <a:latin typeface="DejaVu Sans"/>
                <a:ea typeface="DejaVu Sans"/>
                <a:cs typeface="DejaVu Sans"/>
              </a:rPr>
              <a:t>Repeat aloud and listen again</a:t>
            </a:r>
          </a:p>
        </p:txBody>
      </p:sp>
      <p:sp>
        <p:nvSpPr>
          <p:cNvPr id="15" name="">
            <a:extLst xmlns:a="http://schemas.openxmlformats.org/drawingml/2006/main">
              <a:ext uri="{FF2B5EF4-FFF2-40B4-BE49-F238E27FC236}">
                <a16:creationId xmlns:a16="http://schemas.microsoft.com/office/drawing/2014/main" id="{1D5D1D68-A7F0-4C67-83F3-68915A6100D8}"/>
              </a:ext>
            </a:extLst>
          </p:cNvPr>
          <p:cNvSpPr>
            <a:spLocks xmlns:a="http://schemas.openxmlformats.org/drawingml/2006/main" noGrp="1"/>
          </p:cNvSpPr>
          <p:nvPr/>
        </p:nvSpPr>
        <p:spPr>
          <a:xfrm xmlns:a="http://schemas.openxmlformats.org/drawingml/2006/main">
            <a:off x="4495800" y="3743325"/>
            <a:ext cx="3200400" cy="1219200"/>
          </a:xfrm>
          <a:prstGeom xmlns:a="http://schemas.openxmlformats.org/drawingml/2006/main" prst="rect">
            <a:avLst/>
          </a:prstGeom>
          <a:solidFill xmlns:a="http://schemas.openxmlformats.org/drawingml/2006/main">
            <a:srgbClr val="F0E6DE"/>
          </a:solidFill>
          <a:ln xmlns:a="http://schemas.openxmlformats.org/drawingml/2006/main" w="9525">
            <a:solidFill>
              <a:srgbClr val="DBDDD9"/>
            </a:solidFill>
          </a:ln>
        </p:spPr>
      </p:sp>
      <p:sp>
        <p:nvSpPr>
          <p:cNvPr id="16" name="">
            <a:extLst xmlns:a="http://schemas.openxmlformats.org/drawingml/2006/main">
              <a:ext uri="{FF2B5EF4-FFF2-40B4-BE49-F238E27FC236}">
                <a16:creationId xmlns:a16="http://schemas.microsoft.com/office/drawing/2014/main" id="{54C32302-F7AF-4EE7-A609-4ACD255F48EB}"/>
              </a:ext>
            </a:extLst>
          </p:cNvPr>
          <p:cNvSpPr>
            <a:spLocks xmlns:a="http://schemas.openxmlformats.org/drawingml/2006/main" noGrp="1"/>
          </p:cNvSpPr>
          <p:nvPr/>
        </p:nvSpPr>
        <p:spPr>
          <a:xfrm xmlns:a="http://schemas.openxmlformats.org/drawingml/2006/main">
            <a:off x="4667250" y="3905250"/>
            <a:ext cx="28765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4233D"/>
                </a:solidFill>
                <a:latin typeface="DejaVu Sans"/>
                <a:ea typeface="DejaVu Sans"/>
                <a:cs typeface="DejaVu Sans"/>
              </a:defRPr>
            </a:pPr>
            <a:r>
              <a:rPr sz="2025" b="1">
                <a:solidFill>
                  <a:srgbClr val="14233D"/>
                </a:solidFill>
                <a:latin typeface="DejaVu Sans"/>
                <a:ea typeface="DejaVu Sans"/>
                <a:cs typeface="DejaVu Sans"/>
              </a:rPr>
              <a:t>5  Review</a:t>
            </a:r>
          </a:p>
        </p:txBody>
      </p:sp>
      <p:sp>
        <p:nvSpPr>
          <p:cNvPr id="17" name="">
            <a:extLst xmlns:a="http://schemas.openxmlformats.org/drawingml/2006/main">
              <a:ext uri="{FF2B5EF4-FFF2-40B4-BE49-F238E27FC236}">
                <a16:creationId xmlns:a16="http://schemas.microsoft.com/office/drawing/2014/main" id="{EC050B70-2304-435C-A84B-8440353F762C}"/>
              </a:ext>
            </a:extLst>
          </p:cNvPr>
          <p:cNvSpPr>
            <a:spLocks xmlns:a="http://schemas.openxmlformats.org/drawingml/2006/main" noGrp="1"/>
          </p:cNvSpPr>
          <p:nvPr/>
        </p:nvSpPr>
        <p:spPr>
          <a:xfrm xmlns:a="http://schemas.openxmlformats.org/drawingml/2006/main">
            <a:off x="4667250" y="4419600"/>
            <a:ext cx="28765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96578"/>
                </a:solidFill>
                <a:latin typeface="DejaVu Sans"/>
                <a:ea typeface="DejaVu Sans"/>
                <a:cs typeface="DejaVu Sans"/>
              </a:defRPr>
            </a:pPr>
            <a:r>
              <a:rPr sz="1650" b="0">
                <a:solidFill>
                  <a:srgbClr val="596578"/>
                </a:solidFill>
                <a:latin typeface="DejaVu Sans"/>
                <a:ea typeface="DejaVu Sans"/>
                <a:cs typeface="DejaVu Sans"/>
              </a:rPr>
              <a:t>Revisit saved lessons</a:t>
            </a:r>
          </a:p>
        </p:txBody>
      </p:sp>
      <p:sp>
        <p:nvSpPr>
          <p:cNvPr id="18" name="">
            <a:extLst xmlns:a="http://schemas.openxmlformats.org/drawingml/2006/main">
              <a:ext uri="{FF2B5EF4-FFF2-40B4-BE49-F238E27FC236}">
                <a16:creationId xmlns:a16="http://schemas.microsoft.com/office/drawing/2014/main" id="{DD45F2E2-C175-4E5E-A1AF-7D3A69C53C4D}"/>
              </a:ext>
            </a:extLst>
          </p:cNvPr>
          <p:cNvSpPr>
            <a:spLocks xmlns:a="http://schemas.openxmlformats.org/drawingml/2006/main" noGrp="1"/>
          </p:cNvSpPr>
          <p:nvPr/>
        </p:nvSpPr>
        <p:spPr>
          <a:xfrm xmlns:a="http://schemas.openxmlformats.org/drawingml/2006/main">
            <a:off x="609600" y="3743325"/>
            <a:ext cx="3200400" cy="1219200"/>
          </a:xfrm>
          <a:prstGeom xmlns:a="http://schemas.openxmlformats.org/drawingml/2006/main" prst="rect">
            <a:avLst/>
          </a:prstGeom>
          <a:solidFill xmlns:a="http://schemas.openxmlformats.org/drawingml/2006/main">
            <a:srgbClr val="F0E6DE"/>
          </a:solidFill>
          <a:ln xmlns:a="http://schemas.openxmlformats.org/drawingml/2006/main" w="9525">
            <a:solidFill>
              <a:srgbClr val="DBDDD9"/>
            </a:solidFill>
          </a:ln>
        </p:spPr>
      </p:sp>
      <p:sp>
        <p:nvSpPr>
          <p:cNvPr id="19" name="">
            <a:extLst xmlns:a="http://schemas.openxmlformats.org/drawingml/2006/main">
              <a:ext uri="{FF2B5EF4-FFF2-40B4-BE49-F238E27FC236}">
                <a16:creationId xmlns:a16="http://schemas.microsoft.com/office/drawing/2014/main" id="{4DB8D7DA-EF17-44DB-9B23-E2CFFC535192}"/>
              </a:ext>
            </a:extLst>
          </p:cNvPr>
          <p:cNvSpPr>
            <a:spLocks xmlns:a="http://schemas.openxmlformats.org/drawingml/2006/main" noGrp="1"/>
          </p:cNvSpPr>
          <p:nvPr/>
        </p:nvSpPr>
        <p:spPr>
          <a:xfrm xmlns:a="http://schemas.openxmlformats.org/drawingml/2006/main">
            <a:off x="781050" y="3905250"/>
            <a:ext cx="28765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4233D"/>
                </a:solidFill>
                <a:latin typeface="DejaVu Sans"/>
                <a:ea typeface="DejaVu Sans"/>
                <a:cs typeface="DejaVu Sans"/>
              </a:defRPr>
            </a:pPr>
            <a:r>
              <a:rPr sz="2025" b="1">
                <a:solidFill>
                  <a:srgbClr val="14233D"/>
                </a:solidFill>
                <a:latin typeface="DejaVu Sans"/>
                <a:ea typeface="DejaVu Sans"/>
                <a:cs typeface="DejaVu Sans"/>
              </a:rPr>
              <a:t>6  Advance</a:t>
            </a:r>
          </a:p>
        </p:txBody>
      </p:sp>
      <p:sp>
        <p:nvSpPr>
          <p:cNvPr id="20" name="">
            <a:extLst xmlns:a="http://schemas.openxmlformats.org/drawingml/2006/main">
              <a:ext uri="{FF2B5EF4-FFF2-40B4-BE49-F238E27FC236}">
                <a16:creationId xmlns:a16="http://schemas.microsoft.com/office/drawing/2014/main" id="{F7A38865-54E4-4FD8-A395-B56AF213F479}"/>
              </a:ext>
            </a:extLst>
          </p:cNvPr>
          <p:cNvSpPr>
            <a:spLocks xmlns:a="http://schemas.openxmlformats.org/drawingml/2006/main" noGrp="1"/>
          </p:cNvSpPr>
          <p:nvPr/>
        </p:nvSpPr>
        <p:spPr>
          <a:xfrm xmlns:a="http://schemas.openxmlformats.org/drawingml/2006/main">
            <a:off x="781050" y="4419600"/>
            <a:ext cx="28765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96578"/>
                </a:solidFill>
                <a:latin typeface="DejaVu Sans"/>
                <a:ea typeface="DejaVu Sans"/>
                <a:cs typeface="DejaVu Sans"/>
              </a:defRPr>
            </a:pPr>
            <a:r>
              <a:rPr sz="1650" b="0">
                <a:solidFill>
                  <a:srgbClr val="596578"/>
                </a:solidFill>
                <a:latin typeface="DejaVu Sans"/>
                <a:ea typeface="DejaVu Sans"/>
                <a:cs typeface="DejaVu Sans"/>
              </a:rPr>
              <a:t>Choose harder content</a:t>
            </a:r>
          </a:p>
        </p:txBody>
      </p:sp>
      <p:sp>
        <p:nvSpPr>
          <p:cNvPr id="26" name="">
            <a:extLst xmlns:a="http://schemas.openxmlformats.org/drawingml/2006/main">
              <a:ext uri="{FF2B5EF4-FFF2-40B4-BE49-F238E27FC236}">
                <a16:creationId xmlns:a16="http://schemas.microsoft.com/office/drawing/2014/main" id="{F383FED5-9E3B-46CD-A7D5-013A1367D886}"/>
              </a:ext>
            </a:extLst>
          </p:cNvPr>
          <p:cNvSpPr>
            <a:spLocks xmlns:a="http://schemas.openxmlformats.org/drawingml/2006/main" noGrp="1"/>
          </p:cNvSpPr>
          <p:nvPr/>
        </p:nvSpPr>
        <p:spPr>
          <a:xfrm xmlns:a="http://schemas.openxmlformats.org/drawingml/2006/main">
            <a:off x="609600" y="5534025"/>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D7463E"/>
                </a:solidFill>
                <a:latin typeface="DejaVu Sans"/>
                <a:ea typeface="DejaVu Sans"/>
                <a:cs typeface="DejaVu Sans"/>
              </a:defRPr>
            </a:pPr>
            <a:r>
              <a:rPr sz="2025" b="1">
                <a:solidFill>
                  <a:srgbClr val="D7463E"/>
                </a:solidFill>
                <a:latin typeface="DejaVu Sans"/>
                <a:ea typeface="DejaVu Sans"/>
                <a:cs typeface="DejaVu Sans"/>
              </a:rPr>
              <a:t>Learning gap: the learner must create a practice routine and decide what comes next.</a:t>
            </a:r>
          </a:p>
        </p:txBody>
      </p:sp>
    </p:spTree>
    <p:extLst>
      <p:ext uri="{BB962C8B-B14F-4D97-AF65-F5344CB8AC3E}">
        <p14:creationId xmlns:p14="http://schemas.microsoft.com/office/powerpoint/2010/main" val="1985215244"/>
      </p:ext>
    </p:extLst>
  </p:cSld>
</p:sld>
</file>

<file path=ppt/slides/slide4.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89105991-9A2B-40D8-93A3-A4BB08B4508E}"/>
              </a:ext>
            </a:extLst>
          </p:cNvPr>
          <p:cNvSpPr>
            <a:spLocks xmlns:a="http://schemas.openxmlformats.org/drawingml/2006/main" noGrp="1"/>
          </p:cNvSpPr>
          <p:nvPr/>
        </p:nvSpPr>
        <p:spPr>
          <a:xfrm xmlns:a="http://schemas.openxmlformats.org/drawingml/2006/main">
            <a:off x="609600" y="523875"/>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4233D"/>
                </a:solidFill>
                <a:latin typeface="DejaVu Sans"/>
                <a:ea typeface="DejaVu Sans"/>
                <a:cs typeface="DejaVu Sans"/>
              </a:defRPr>
            </a:pPr>
            <a:r>
              <a:rPr sz="3300" b="1">
                <a:solidFill>
                  <a:srgbClr val="14233D"/>
                </a:solidFill>
                <a:latin typeface="DejaVu Sans"/>
                <a:ea typeface="DejaVu Sans"/>
                <a:cs typeface="DejaVu Sans"/>
              </a:rPr>
              <a:t>What should the system do?</a:t>
            </a:r>
          </a:p>
        </p:txBody>
      </p:sp>
      <p:sp>
        <p:nvSpPr>
          <p:cNvPr id="2" name="">
            <a:extLst xmlns:a="http://schemas.openxmlformats.org/drawingml/2006/main">
              <a:ext uri="{FF2B5EF4-FFF2-40B4-BE49-F238E27FC236}">
                <a16:creationId xmlns:a16="http://schemas.microsoft.com/office/drawing/2014/main" id="{03735DC7-C7D0-46E0-B7BF-41C85E63AE26}"/>
              </a:ext>
            </a:extLst>
          </p:cNvPr>
          <p:cNvSpPr>
            <a:spLocks xmlns:a="http://schemas.openxmlformats.org/drawingml/2006/main" noGrp="1"/>
          </p:cNvSpPr>
          <p:nvPr/>
        </p:nvSpPr>
        <p:spPr>
          <a:xfrm xmlns:a="http://schemas.openxmlformats.org/drawingml/2006/main">
            <a:off x="11049000" y="6315075"/>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96578"/>
                </a:solidFill>
                <a:latin typeface="DejaVu Sans"/>
                <a:ea typeface="DejaVu Sans"/>
                <a:cs typeface="DejaVu Sans"/>
              </a:defRPr>
            </a:pPr>
            <a:r>
              <a:rPr sz="1350" b="0">
                <a:solidFill>
                  <a:srgbClr val="596578"/>
                </a:solidFill>
                <a:latin typeface="DejaVu Sans"/>
                <a:ea typeface="DejaVu Sans"/>
                <a:cs typeface="DejaVu Sans"/>
              </a:rPr>
              <a:t>04</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1d5e50dc226d4211"/>
          <a:stretch xmlns:a="http://schemas.openxmlformats.org/drawingml/2006/main"/>
        </p:blipFill>
        <p:spPr>
          <a:xfrm xmlns:a="http://schemas.openxmlformats.org/drawingml/2006/main">
            <a:off x="609600" y="1648420"/>
            <a:ext cx="3181350" cy="1789509"/>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0EF0021E-767F-4668-A226-A07C075ADE84}"/>
              </a:ext>
            </a:extLst>
          </p:cNvPr>
          <p:cNvSpPr>
            <a:spLocks xmlns:a="http://schemas.openxmlformats.org/drawingml/2006/main" noGrp="1"/>
          </p:cNvSpPr>
          <p:nvPr/>
        </p:nvSpPr>
        <p:spPr>
          <a:xfrm xmlns:a="http://schemas.openxmlformats.org/drawingml/2006/main">
            <a:off x="609600" y="3714750"/>
            <a:ext cx="31813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344ACC"/>
                </a:solidFill>
                <a:latin typeface="DejaVu Sans"/>
                <a:ea typeface="DejaVu Sans"/>
                <a:cs typeface="DejaVu Sans"/>
              </a:defRPr>
            </a:pPr>
            <a:r>
              <a:rPr sz="2250" b="1">
                <a:solidFill>
                  <a:srgbClr val="344ACC"/>
                </a:solidFill>
                <a:latin typeface="DejaVu Sans"/>
                <a:ea typeface="DejaVu Sans"/>
                <a:cs typeface="DejaVu Sans"/>
              </a:rPr>
              <a:t>Learning content</a:t>
            </a:r>
          </a:p>
        </p:txBody>
      </p:sp>
      <p:sp>
        <p:nvSpPr>
          <p:cNvPr id="5" name="">
            <a:extLst xmlns:a="http://schemas.openxmlformats.org/drawingml/2006/main">
              <a:ext uri="{FF2B5EF4-FFF2-40B4-BE49-F238E27FC236}">
                <a16:creationId xmlns:a16="http://schemas.microsoft.com/office/drawing/2014/main" id="{DE05671A-F336-4F74-B88B-C3B81CAD1251}"/>
              </a:ext>
            </a:extLst>
          </p:cNvPr>
          <p:cNvSpPr>
            <a:spLocks xmlns:a="http://schemas.openxmlformats.org/drawingml/2006/main" noGrp="1"/>
          </p:cNvSpPr>
          <p:nvPr/>
        </p:nvSpPr>
        <p:spPr>
          <a:xfrm xmlns:a="http://schemas.openxmlformats.org/drawingml/2006/main">
            <a:off x="609600" y="4324350"/>
            <a:ext cx="3181350" cy="1400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96578"/>
                </a:solidFill>
                <a:latin typeface="DejaVu Sans"/>
                <a:ea typeface="DejaVu Sans"/>
                <a:cs typeface="DejaVu Sans"/>
              </a:defRPr>
            </a:pPr>
            <a:r>
              <a:rPr sz="1875" b="0">
                <a:solidFill>
                  <a:srgbClr val="596578"/>
                </a:solidFill>
                <a:latin typeface="DejaVu Sans"/>
                <a:ea typeface="DejaVu Sans"/>
                <a:cs typeface="DejaVu Sans"/>
              </a:rPr>
              <a:t>TTMIK supplies lessons.</a:t>
            </a:r>
          </a:p>
          <a:p xmlns:a="http://schemas.openxmlformats.org/drawingml/2006/main">
            <a:pPr>
              <a:defRPr sz="1875" b="0">
                <a:solidFill>
                  <a:srgbClr val="596578"/>
                </a:solidFill>
                <a:latin typeface="DejaVu Sans"/>
                <a:ea typeface="DejaVu Sans"/>
                <a:cs typeface="DejaVu Sans"/>
              </a:defRPr>
            </a:pPr>
            <a:r>
              <a:rPr sz="1875" b="0">
                <a:solidFill>
                  <a:srgbClr val="596578"/>
                </a:solidFill>
                <a:latin typeface="DejaVu Sans"/>
                <a:ea typeface="DejaVu Sans"/>
                <a:cs typeface="DejaVu Sans"/>
              </a:rPr>
              <a:t>YouTube supplies discovery,</a:t>
            </a:r>
          </a:p>
          <a:p xmlns:a="http://schemas.openxmlformats.org/drawingml/2006/main">
            <a:pPr>
              <a:defRPr sz="1875" b="0">
                <a:solidFill>
                  <a:srgbClr val="596578"/>
                </a:solidFill>
                <a:latin typeface="DejaVu Sans"/>
                <a:ea typeface="DejaVu Sans"/>
                <a:cs typeface="DejaVu Sans"/>
              </a:defRPr>
            </a:pPr>
            <a:r>
              <a:rPr sz="1875" b="0">
                <a:solidFill>
                  <a:srgbClr val="596578"/>
                </a:solidFill>
                <a:latin typeface="DejaVu Sans"/>
                <a:ea typeface="DejaVu Sans"/>
                <a:cs typeface="DejaVu Sans"/>
              </a:rPr>
              <a:t>playback and interaction.</a:t>
            </a:r>
          </a:p>
        </p:txBody>
      </p:sp>
      <p:graphicFrame>
        <p:nvGraphicFramePr>
          <p:cNvPr id="13" name=""/>
          <p:cNvGraphicFramePr/>
          <p:nvPr/>
        </p:nvGraphicFramePr>
        <p:xfrm>
          <a:off xmlns:a="http://schemas.openxmlformats.org/drawingml/2006/main" x="4219575" y="1628775"/>
          <a:ext xmlns:a="http://schemas.openxmlformats.org/drawingml/2006/main" cx="7362825" cy="4333875"/>
        </p:xfrm>
        <a:graphic xmlns:a="http://schemas.openxmlformats.org/drawingml/2006/main">
          <a:graphicData uri="http://schemas.openxmlformats.org/drawingml/2006/table">
            <a:tbl>
              <a:tblPr/>
              <a:tblGrid>
                <a:gridCol w="704850"/>
                <a:gridCol w="2190750"/>
                <a:gridCol w="4467225"/>
              </a:tblGrid>
              <a:tr h="619125">
                <a:tc>
                  <a:txBody>
                    <a:bodyPr/>
                    <a:lstStyle/>
                    <a:p>
                      <a:r>
                        <a:rPr sz="1650" b="1">
                          <a:solidFill>
                            <a:srgbClr val="FFFFFF"/>
                          </a:solidFill>
                          <a:latin typeface="DejaVu Sans"/>
                          <a:ea typeface="DejaVu Sans"/>
                          <a:cs typeface="DejaVu Sans"/>
                        </a:rPr>
                        <a:t>ID</a:t>
                      </a:r>
                    </a:p>
                  </a:txBody>
                  <a:tcPr marL="91440" marR="91440" marT="45720" marB="45720">
                    <a:solidFill>
                      <a:srgbClr val="14233D"/>
                    </a:solidFill>
                  </a:tcPr>
                </a:tc>
                <a:tc>
                  <a:txBody>
                    <a:bodyPr/>
                    <a:lstStyle/>
                    <a:p>
                      <a:r>
                        <a:rPr sz="1650" b="1">
                          <a:solidFill>
                            <a:srgbClr val="FFFFFF"/>
                          </a:solidFill>
                          <a:latin typeface="DejaVu Sans"/>
                          <a:ea typeface="DejaVu Sans"/>
                          <a:cs typeface="DejaVu Sans"/>
                        </a:rPr>
                        <a:t>Learner need</a:t>
                      </a:r>
                    </a:p>
                  </a:txBody>
                  <a:tcPr marL="91440" marR="91440" marT="45720" marB="45720">
                    <a:solidFill>
                      <a:srgbClr val="14233D"/>
                    </a:solidFill>
                  </a:tcPr>
                </a:tc>
                <a:tc>
                  <a:txBody>
                    <a:bodyPr/>
                    <a:lstStyle/>
                    <a:p>
                      <a:r>
                        <a:rPr sz="1650" b="1">
                          <a:solidFill>
                            <a:srgbClr val="FFFFFF"/>
                          </a:solidFill>
                          <a:latin typeface="DejaVu Sans"/>
                          <a:ea typeface="DejaVu Sans"/>
                          <a:cs typeface="DejaVu Sans"/>
                        </a:rPr>
                        <a:t>Required function</a:t>
                      </a:r>
                    </a:p>
                  </a:txBody>
                  <a:tcPr marL="91440" marR="91440" marT="45720" marB="45720">
                    <a:solidFill>
                      <a:srgbClr val="14233D"/>
                    </a:solidFill>
                  </a:tcPr>
                </a:tc>
              </a:tr>
              <a:tr h="619125">
                <a:tc>
                  <a:txBody>
                    <a:bodyPr/>
                    <a:lstStyle/>
                    <a:p>
                      <a:r>
                        <a:rPr sz="1650" b="0">
                          <a:solidFill>
                            <a:srgbClr val="14233D"/>
                          </a:solidFill>
                          <a:latin typeface="DejaVu Sans"/>
                          <a:ea typeface="DejaVu Sans"/>
                          <a:cs typeface="DejaVu Sans"/>
                        </a:rPr>
                        <a:t>FR1</a:t>
                      </a:r>
                    </a:p>
                  </a:txBody>
                  <a:tcPr marL="91440" marR="91440" marT="45720" marB="45720">
                    <a:solidFill>
                      <a:srgbClr val="FFFFFF"/>
                    </a:solidFill>
                  </a:tcPr>
                </a:tc>
                <a:tc>
                  <a:txBody>
                    <a:bodyPr/>
                    <a:lstStyle/>
                    <a:p>
                      <a:r>
                        <a:rPr sz="1650" b="0">
                          <a:solidFill>
                            <a:srgbClr val="14233D"/>
                          </a:solidFill>
                          <a:latin typeface="DejaVu Sans"/>
                          <a:ea typeface="DejaVu Sans"/>
                          <a:cs typeface="DejaVu Sans"/>
                        </a:rPr>
                        <a:t>Understand Korean</a:t>
                      </a:r>
                    </a:p>
                  </a:txBody>
                  <a:tcPr marL="91440" marR="91440" marT="45720" marB="45720">
                    <a:solidFill>
                      <a:srgbClr val="FFFFFF"/>
                    </a:solidFill>
                  </a:tcPr>
                </a:tc>
                <a:tc>
                  <a:txBody>
                    <a:bodyPr/>
                    <a:lstStyle/>
                    <a:p>
                      <a:r>
                        <a:rPr sz="1650" b="0">
                          <a:solidFill>
                            <a:srgbClr val="14233D"/>
                          </a:solidFill>
                          <a:latin typeface="DejaVu Sans"/>
                          <a:ea typeface="DejaVu Sans"/>
                          <a:cs typeface="DejaVu Sans"/>
                        </a:rPr>
                        <a:t>Lessons, vocabulary and grammar</a:t>
                      </a:r>
                    </a:p>
                  </a:txBody>
                  <a:tcPr marL="91440" marR="91440" marT="45720" marB="45720">
                    <a:solidFill>
                      <a:srgbClr val="FFFFFF"/>
                    </a:solidFill>
                  </a:tcPr>
                </a:tc>
              </a:tr>
              <a:tr h="619125">
                <a:tc>
                  <a:txBody>
                    <a:bodyPr/>
                    <a:lstStyle/>
                    <a:p>
                      <a:r>
                        <a:rPr sz="1650" b="0">
                          <a:solidFill>
                            <a:srgbClr val="14233D"/>
                          </a:solidFill>
                          <a:latin typeface="DejaVu Sans"/>
                          <a:ea typeface="DejaVu Sans"/>
                          <a:cs typeface="DejaVu Sans"/>
                        </a:rPr>
                        <a:t>FR2</a:t>
                      </a:r>
                    </a:p>
                  </a:txBody>
                  <a:tcPr marL="91440" marR="91440" marT="45720" marB="45720">
                    <a:solidFill>
                      <a:srgbClr val="F7F5EF"/>
                    </a:solidFill>
                  </a:tcPr>
                </a:tc>
                <a:tc>
                  <a:txBody>
                    <a:bodyPr/>
                    <a:lstStyle/>
                    <a:p>
                      <a:r>
                        <a:rPr sz="1650" b="0">
                          <a:solidFill>
                            <a:srgbClr val="14233D"/>
                          </a:solidFill>
                          <a:latin typeface="DejaVu Sans"/>
                          <a:ea typeface="DejaVu Sans"/>
                          <a:cs typeface="DejaVu Sans"/>
                        </a:rPr>
                        <a:t>Find a lesson</a:t>
                      </a:r>
                    </a:p>
                  </a:txBody>
                  <a:tcPr marL="91440" marR="91440" marT="45720" marB="45720">
                    <a:solidFill>
                      <a:srgbClr val="F7F5EF"/>
                    </a:solidFill>
                  </a:tcPr>
                </a:tc>
                <a:tc>
                  <a:txBody>
                    <a:bodyPr/>
                    <a:lstStyle/>
                    <a:p>
                      <a:r>
                        <a:rPr sz="1650" b="0">
                          <a:solidFill>
                            <a:srgbClr val="14233D"/>
                          </a:solidFill>
                          <a:latin typeface="DejaVu Sans"/>
                          <a:ea typeface="DejaVu Sans"/>
                          <a:cs typeface="DejaVu Sans"/>
                        </a:rPr>
                        <a:t>Search, topic and level organization</a:t>
                      </a:r>
                    </a:p>
                  </a:txBody>
                  <a:tcPr marL="91440" marR="91440" marT="45720" marB="45720">
                    <a:solidFill>
                      <a:srgbClr val="F7F5EF"/>
                    </a:solidFill>
                  </a:tcPr>
                </a:tc>
              </a:tr>
              <a:tr h="619125">
                <a:tc>
                  <a:txBody>
                    <a:bodyPr/>
                    <a:lstStyle/>
                    <a:p>
                      <a:r>
                        <a:rPr sz="1650" b="0">
                          <a:solidFill>
                            <a:srgbClr val="14233D"/>
                          </a:solidFill>
                          <a:latin typeface="DejaVu Sans"/>
                          <a:ea typeface="DejaVu Sans"/>
                          <a:cs typeface="DejaVu Sans"/>
                        </a:rPr>
                        <a:t>FR3</a:t>
                      </a:r>
                    </a:p>
                  </a:txBody>
                  <a:tcPr marL="91440" marR="91440" marT="45720" marB="45720">
                    <a:solidFill>
                      <a:srgbClr val="FFFFFF"/>
                    </a:solidFill>
                  </a:tcPr>
                </a:tc>
                <a:tc>
                  <a:txBody>
                    <a:bodyPr/>
                    <a:lstStyle/>
                    <a:p>
                      <a:r>
                        <a:rPr sz="1650" b="0">
                          <a:solidFill>
                            <a:srgbClr val="14233D"/>
                          </a:solidFill>
                          <a:latin typeface="DejaVu Sans"/>
                          <a:ea typeface="DejaVu Sans"/>
                          <a:cs typeface="DejaVu Sans"/>
                        </a:rPr>
                        <a:t>Use spoken Korean</a:t>
                      </a:r>
                    </a:p>
                  </a:txBody>
                  <a:tcPr marL="91440" marR="91440" marT="45720" marB="45720">
                    <a:solidFill>
                      <a:srgbClr val="FFFFFF"/>
                    </a:solidFill>
                  </a:tcPr>
                </a:tc>
                <a:tc>
                  <a:txBody>
                    <a:bodyPr/>
                    <a:lstStyle/>
                    <a:p>
                      <a:r>
                        <a:rPr sz="1650" b="0">
                          <a:solidFill>
                            <a:srgbClr val="14233D"/>
                          </a:solidFill>
                          <a:latin typeface="DejaVu Sans"/>
                          <a:ea typeface="DejaVu Sans"/>
                          <a:cs typeface="DejaVu Sans"/>
                        </a:rPr>
                        <a:t>Listening and pronunciation practice</a:t>
                      </a:r>
                    </a:p>
                  </a:txBody>
                  <a:tcPr marL="91440" marR="91440" marT="45720" marB="45720">
                    <a:solidFill>
                      <a:srgbClr val="FFFFFF"/>
                    </a:solidFill>
                  </a:tcPr>
                </a:tc>
              </a:tr>
              <a:tr h="619125">
                <a:tc>
                  <a:txBody>
                    <a:bodyPr/>
                    <a:lstStyle/>
                    <a:p>
                      <a:r>
                        <a:rPr sz="1650" b="0">
                          <a:solidFill>
                            <a:srgbClr val="14233D"/>
                          </a:solidFill>
                          <a:latin typeface="DejaVu Sans"/>
                          <a:ea typeface="DejaVu Sans"/>
                          <a:cs typeface="DejaVu Sans"/>
                        </a:rPr>
                        <a:t>FR4</a:t>
                      </a:r>
                    </a:p>
                  </a:txBody>
                  <a:tcPr marL="91440" marR="91440" marT="45720" marB="45720">
                    <a:solidFill>
                      <a:srgbClr val="F7F5EF"/>
                    </a:solidFill>
                  </a:tcPr>
                </a:tc>
                <a:tc>
                  <a:txBody>
                    <a:bodyPr/>
                    <a:lstStyle/>
                    <a:p>
                      <a:r>
                        <a:rPr sz="1650" b="0">
                          <a:solidFill>
                            <a:srgbClr val="14233D"/>
                          </a:solidFill>
                          <a:latin typeface="DejaVu Sans"/>
                          <a:ea typeface="DejaVu Sans"/>
                          <a:cs typeface="DejaVu Sans"/>
                        </a:rPr>
                        <a:t>Follow speech</a:t>
                      </a:r>
                    </a:p>
                  </a:txBody>
                  <a:tcPr marL="91440" marR="91440" marT="45720" marB="45720">
                    <a:solidFill>
                      <a:srgbClr val="F7F5EF"/>
                    </a:solidFill>
                  </a:tcPr>
                </a:tc>
                <a:tc>
                  <a:txBody>
                    <a:bodyPr/>
                    <a:lstStyle/>
                    <a:p>
                      <a:r>
                        <a:rPr sz="1650" b="0">
                          <a:solidFill>
                            <a:srgbClr val="14233D"/>
                          </a:solidFill>
                          <a:latin typeface="DejaVu Sans"/>
                          <a:ea typeface="DejaVu Sans"/>
                          <a:cs typeface="DejaVu Sans"/>
                        </a:rPr>
                        <a:t>Subtitles / translations when available</a:t>
                      </a:r>
                    </a:p>
                  </a:txBody>
                  <a:tcPr marL="91440" marR="91440" marT="45720" marB="45720">
                    <a:solidFill>
                      <a:srgbClr val="F7F5EF"/>
                    </a:solidFill>
                  </a:tcPr>
                </a:tc>
              </a:tr>
              <a:tr h="619125">
                <a:tc>
                  <a:txBody>
                    <a:bodyPr/>
                    <a:lstStyle/>
                    <a:p>
                      <a:r>
                        <a:rPr sz="1650" b="0">
                          <a:solidFill>
                            <a:srgbClr val="14233D"/>
                          </a:solidFill>
                          <a:latin typeface="DejaVu Sans"/>
                          <a:ea typeface="DejaVu Sans"/>
                          <a:cs typeface="DejaVu Sans"/>
                        </a:rPr>
                        <a:t>FR5</a:t>
                      </a:r>
                    </a:p>
                  </a:txBody>
                  <a:tcPr marL="91440" marR="91440" marT="45720" marB="45720">
                    <a:solidFill>
                      <a:srgbClr val="FFFFFF"/>
                    </a:solidFill>
                  </a:tcPr>
                </a:tc>
                <a:tc>
                  <a:txBody>
                    <a:bodyPr/>
                    <a:lstStyle/>
                    <a:p>
                      <a:r>
                        <a:rPr sz="1650" b="0">
                          <a:solidFill>
                            <a:srgbClr val="14233D"/>
                          </a:solidFill>
                          <a:latin typeface="DejaVu Sans"/>
                          <a:ea typeface="DejaVu Sans"/>
                          <a:cs typeface="DejaVu Sans"/>
                        </a:rPr>
                        <a:t>Review and continue</a:t>
                      </a:r>
                    </a:p>
                  </a:txBody>
                  <a:tcPr marL="91440" marR="91440" marT="45720" marB="45720">
                    <a:solidFill>
                      <a:srgbClr val="FFFFFF"/>
                    </a:solidFill>
                  </a:tcPr>
                </a:tc>
                <a:tc>
                  <a:txBody>
                    <a:bodyPr/>
                    <a:lstStyle/>
                    <a:p>
                      <a:r>
                        <a:rPr sz="1650" b="0">
                          <a:solidFill>
                            <a:srgbClr val="14233D"/>
                          </a:solidFill>
                          <a:latin typeface="DejaVu Sans"/>
                          <a:ea typeface="DejaVu Sans"/>
                          <a:cs typeface="DejaVu Sans"/>
                        </a:rPr>
                        <a:t>Save, revisit and recommend lessons</a:t>
                      </a:r>
                    </a:p>
                  </a:txBody>
                  <a:tcPr marL="91440" marR="91440" marT="45720" marB="45720">
                    <a:solidFill>
                      <a:srgbClr val="FFFFFF"/>
                    </a:solidFill>
                  </a:tcPr>
                </a:tc>
              </a:tr>
              <a:tr h="619125">
                <a:tc>
                  <a:txBody>
                    <a:bodyPr/>
                    <a:lstStyle/>
                    <a:p>
                      <a:r>
                        <a:rPr sz="1650" b="0">
                          <a:solidFill>
                            <a:srgbClr val="14233D"/>
                          </a:solidFill>
                          <a:latin typeface="DejaVu Sans"/>
                          <a:ea typeface="DejaVu Sans"/>
                          <a:cs typeface="DejaVu Sans"/>
                        </a:rPr>
                        <a:t>FR6</a:t>
                      </a:r>
                    </a:p>
                  </a:txBody>
                  <a:tcPr marL="91440" marR="91440" marT="45720" marB="45720">
                    <a:solidFill>
                      <a:srgbClr val="F7F5EF"/>
                    </a:solidFill>
                  </a:tcPr>
                </a:tc>
                <a:tc>
                  <a:txBody>
                    <a:bodyPr/>
                    <a:lstStyle/>
                    <a:p>
                      <a:r>
                        <a:rPr sz="1650" b="0">
                          <a:solidFill>
                            <a:srgbClr val="14233D"/>
                          </a:solidFill>
                          <a:latin typeface="DejaVu Sans"/>
                          <a:ea typeface="DejaVu Sans"/>
                          <a:cs typeface="DejaVu Sans"/>
                        </a:rPr>
                        <a:t>Ask questions</a:t>
                      </a:r>
                    </a:p>
                  </a:txBody>
                  <a:tcPr marL="91440" marR="91440" marT="45720" marB="45720">
                    <a:solidFill>
                      <a:srgbClr val="F7F5EF"/>
                    </a:solidFill>
                  </a:tcPr>
                </a:tc>
                <a:tc>
                  <a:txBody>
                    <a:bodyPr/>
                    <a:lstStyle/>
                    <a:p>
                      <a:r>
                        <a:rPr sz="1650" b="0">
                          <a:solidFill>
                            <a:srgbClr val="14233D"/>
                          </a:solidFill>
                          <a:latin typeface="DejaVu Sans"/>
                          <a:ea typeface="DejaVu Sans"/>
                          <a:cs typeface="DejaVu Sans"/>
                        </a:rPr>
                        <a:t>Comments and community interaction</a:t>
                      </a:r>
                    </a:p>
                  </a:txBody>
                  <a:tcPr marL="91440" marR="91440" marT="45720" marB="45720">
                    <a:solidFill>
                      <a:srgbClr val="F7F5EF"/>
                    </a:solidFill>
                  </a:tcPr>
                </a:tc>
              </a:tr>
            </a:tbl>
          </a:graphicData>
        </a:graphic>
      </p:graphicFrame>
      <p:sp>
        <p:nvSpPr>
          <p:cNvPr id="7" name="">
            <a:extLst xmlns:a="http://schemas.openxmlformats.org/drawingml/2006/main">
              <a:ext uri="{FF2B5EF4-FFF2-40B4-BE49-F238E27FC236}">
                <a16:creationId xmlns:a16="http://schemas.microsoft.com/office/drawing/2014/main" id="{C871CAC5-7B81-4738-B9C7-9ED1056A4C09}"/>
              </a:ext>
            </a:extLst>
          </p:cNvPr>
          <p:cNvSpPr>
            <a:spLocks xmlns:a="http://schemas.openxmlformats.org/drawingml/2006/main" noGrp="1"/>
          </p:cNvSpPr>
          <p:nvPr/>
        </p:nvSpPr>
        <p:spPr>
          <a:xfrm xmlns:a="http://schemas.openxmlformats.org/drawingml/2006/main">
            <a:off x="609600" y="6181725"/>
            <a:ext cx="10382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96578"/>
                </a:solidFill>
                <a:latin typeface="DejaVu Sans"/>
                <a:ea typeface="DejaVu Sans"/>
                <a:cs typeface="DejaVu Sans"/>
              </a:defRPr>
            </a:pPr>
            <a:r>
              <a:rPr sz="1500" b="0">
                <a:solidFill>
                  <a:srgbClr val="596578"/>
                </a:solidFill>
                <a:latin typeface="DejaVu Sans"/>
                <a:ea typeface="DejaVu Sans"/>
                <a:cs typeface="DejaVu Sans"/>
              </a:rPr>
              <a:t>Requirements trace each platform function to a learner need.</a:t>
            </a:r>
          </a:p>
        </p:txBody>
      </p:sp>
    </p:spTree>
    <p:extLst>
      <p:ext uri="{BB962C8B-B14F-4D97-AF65-F5344CB8AC3E}">
        <p14:creationId xmlns:p14="http://schemas.microsoft.com/office/powerpoint/2010/main" val="2115584916"/>
      </p:ext>
    </p:extLst>
  </p:cSld>
</p:sld>
</file>

<file path=ppt/slides/slide5.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08938C9D-B95E-4598-83F1-AFA51923FFDC}"/>
              </a:ext>
            </a:extLst>
          </p:cNvPr>
          <p:cNvSpPr>
            <a:spLocks xmlns:a="http://schemas.openxmlformats.org/drawingml/2006/main" noGrp="1"/>
          </p:cNvSpPr>
          <p:nvPr/>
        </p:nvSpPr>
        <p:spPr>
          <a:xfrm xmlns:a="http://schemas.openxmlformats.org/drawingml/2006/main">
            <a:off x="609600" y="523875"/>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4233D"/>
                </a:solidFill>
                <a:latin typeface="DejaVu Sans"/>
                <a:ea typeface="DejaVu Sans"/>
                <a:cs typeface="DejaVu Sans"/>
              </a:defRPr>
            </a:pPr>
            <a:r>
              <a:rPr sz="3300" b="1">
                <a:solidFill>
                  <a:srgbClr val="14233D"/>
                </a:solidFill>
                <a:latin typeface="DejaVu Sans"/>
                <a:ea typeface="DejaVu Sans"/>
                <a:cs typeface="DejaVu Sans"/>
              </a:rPr>
              <a:t>How should the system work?</a:t>
            </a:r>
          </a:p>
        </p:txBody>
      </p:sp>
      <p:sp>
        <p:nvSpPr>
          <p:cNvPr id="2" name="">
            <a:extLst xmlns:a="http://schemas.openxmlformats.org/drawingml/2006/main">
              <a:ext uri="{FF2B5EF4-FFF2-40B4-BE49-F238E27FC236}">
                <a16:creationId xmlns:a16="http://schemas.microsoft.com/office/drawing/2014/main" id="{66D095D9-C5E6-4322-A965-C4CA2CE78B45}"/>
              </a:ext>
            </a:extLst>
          </p:cNvPr>
          <p:cNvSpPr>
            <a:spLocks xmlns:a="http://schemas.openxmlformats.org/drawingml/2006/main" noGrp="1"/>
          </p:cNvSpPr>
          <p:nvPr/>
        </p:nvSpPr>
        <p:spPr>
          <a:xfrm xmlns:a="http://schemas.openxmlformats.org/drawingml/2006/main">
            <a:off x="11049000" y="6315075"/>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96578"/>
                </a:solidFill>
                <a:latin typeface="DejaVu Sans"/>
                <a:ea typeface="DejaVu Sans"/>
                <a:cs typeface="DejaVu Sans"/>
              </a:defRPr>
            </a:pPr>
            <a:r>
              <a:rPr sz="1350" b="0">
                <a:solidFill>
                  <a:srgbClr val="596578"/>
                </a:solidFill>
                <a:latin typeface="DejaVu Sans"/>
                <a:ea typeface="DejaVu Sans"/>
                <a:cs typeface="DejaVu Sans"/>
              </a:rPr>
              <a:t>05</a:t>
            </a:r>
          </a:p>
        </p:txBody>
      </p:sp>
      <p:sp>
        <p:nvSpPr>
          <p:cNvPr id="3" name="">
            <a:extLst xmlns:a="http://schemas.openxmlformats.org/drawingml/2006/main">
              <a:ext uri="{FF2B5EF4-FFF2-40B4-BE49-F238E27FC236}">
                <a16:creationId xmlns:a16="http://schemas.microsoft.com/office/drawing/2014/main" id="{5072D27A-EFEF-4830-8BB8-E1AD4B5CA52D}"/>
              </a:ext>
            </a:extLst>
          </p:cNvPr>
          <p:cNvSpPr>
            <a:spLocks xmlns:a="http://schemas.openxmlformats.org/drawingml/2006/main" noGrp="1"/>
          </p:cNvSpPr>
          <p:nvPr/>
        </p:nvSpPr>
        <p:spPr>
          <a:xfrm xmlns:a="http://schemas.openxmlformats.org/drawingml/2006/main">
            <a:off x="609600" y="1657350"/>
            <a:ext cx="72199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344ACC"/>
                </a:solidFill>
                <a:latin typeface="DejaVu Sans"/>
                <a:ea typeface="DejaVu Sans"/>
                <a:cs typeface="DejaVu Sans"/>
              </a:defRPr>
            </a:pPr>
            <a:r>
              <a:rPr sz="2025" b="1">
                <a:solidFill>
                  <a:srgbClr val="344ACC"/>
                </a:solidFill>
                <a:latin typeface="DejaVu Sans"/>
                <a:ea typeface="DejaVu Sans"/>
                <a:cs typeface="DejaVu Sans"/>
              </a:rPr>
              <a:t>Usability + learnability</a:t>
            </a:r>
          </a:p>
        </p:txBody>
      </p:sp>
      <p:sp>
        <p:nvSpPr>
          <p:cNvPr id="4" name="">
            <a:extLst xmlns:a="http://schemas.openxmlformats.org/drawingml/2006/main">
              <a:ext uri="{FF2B5EF4-FFF2-40B4-BE49-F238E27FC236}">
                <a16:creationId xmlns:a16="http://schemas.microsoft.com/office/drawing/2014/main" id="{D7C51B78-3A22-4280-84E2-54C7964C84CF}"/>
              </a:ext>
            </a:extLst>
          </p:cNvPr>
          <p:cNvSpPr>
            <a:spLocks xmlns:a="http://schemas.openxmlformats.org/drawingml/2006/main" noGrp="1"/>
          </p:cNvSpPr>
          <p:nvPr/>
        </p:nvSpPr>
        <p:spPr>
          <a:xfrm xmlns:a="http://schemas.openxmlformats.org/drawingml/2006/main">
            <a:off x="609600" y="1981200"/>
            <a:ext cx="72199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96578"/>
                </a:solidFill>
                <a:latin typeface="DejaVu Sans"/>
                <a:ea typeface="DejaVu Sans"/>
                <a:cs typeface="DejaVu Sans"/>
              </a:defRPr>
            </a:pPr>
            <a:r>
              <a:rPr sz="1725" b="0">
                <a:solidFill>
                  <a:srgbClr val="596578"/>
                </a:solidFill>
                <a:latin typeface="DejaVu Sans"/>
                <a:ea typeface="DejaVu Sans"/>
                <a:cs typeface="DejaVu Sans"/>
              </a:rPr>
              <a:t>Find a suitable first lesson within 1 minute</a:t>
            </a:r>
          </a:p>
        </p:txBody>
      </p:sp>
      <p:sp>
        <p:nvSpPr>
          <p:cNvPr id="5" name="">
            <a:extLst xmlns:a="http://schemas.openxmlformats.org/drawingml/2006/main">
              <a:ext uri="{FF2B5EF4-FFF2-40B4-BE49-F238E27FC236}">
                <a16:creationId xmlns:a16="http://schemas.microsoft.com/office/drawing/2014/main" id="{262E97A0-1C7B-4756-A3CC-8D95E75A97B3}"/>
              </a:ext>
            </a:extLst>
          </p:cNvPr>
          <p:cNvSpPr>
            <a:spLocks xmlns:a="http://schemas.openxmlformats.org/drawingml/2006/main" noGrp="1"/>
          </p:cNvSpPr>
          <p:nvPr/>
        </p:nvSpPr>
        <p:spPr>
          <a:xfrm xmlns:a="http://schemas.openxmlformats.org/drawingml/2006/main">
            <a:off x="609600" y="2352675"/>
            <a:ext cx="72199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344ACC"/>
                </a:solidFill>
                <a:latin typeface="DejaVu Sans"/>
                <a:ea typeface="DejaVu Sans"/>
                <a:cs typeface="DejaVu Sans"/>
              </a:defRPr>
            </a:pPr>
            <a:r>
              <a:rPr sz="2025" b="1">
                <a:solidFill>
                  <a:srgbClr val="344ACC"/>
                </a:solidFill>
                <a:latin typeface="DejaVu Sans"/>
                <a:ea typeface="DejaVu Sans"/>
                <a:cs typeface="DejaVu Sans"/>
              </a:rPr>
              <a:t>Accessibility</a:t>
            </a:r>
          </a:p>
        </p:txBody>
      </p:sp>
      <p:sp>
        <p:nvSpPr>
          <p:cNvPr id="6" name="">
            <a:extLst xmlns:a="http://schemas.openxmlformats.org/drawingml/2006/main">
              <a:ext uri="{FF2B5EF4-FFF2-40B4-BE49-F238E27FC236}">
                <a16:creationId xmlns:a16="http://schemas.microsoft.com/office/drawing/2014/main" id="{0BDAAFAE-B0EB-47C9-892F-10BDC5206342}"/>
              </a:ext>
            </a:extLst>
          </p:cNvPr>
          <p:cNvSpPr>
            <a:spLocks xmlns:a="http://schemas.openxmlformats.org/drawingml/2006/main" noGrp="1"/>
          </p:cNvSpPr>
          <p:nvPr/>
        </p:nvSpPr>
        <p:spPr>
          <a:xfrm xmlns:a="http://schemas.openxmlformats.org/drawingml/2006/main">
            <a:off x="609600" y="2676525"/>
            <a:ext cx="72199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96578"/>
                </a:solidFill>
                <a:latin typeface="DejaVu Sans"/>
                <a:ea typeface="DejaVu Sans"/>
                <a:cs typeface="DejaVu Sans"/>
              </a:defRPr>
            </a:pPr>
            <a:r>
              <a:rPr sz="1725" b="0">
                <a:solidFill>
                  <a:srgbClr val="596578"/>
                </a:solidFill>
                <a:latin typeface="DejaVu Sans"/>
                <a:ea typeface="DejaVu Sans"/>
                <a:cs typeface="DejaVu Sans"/>
              </a:rPr>
              <a:t>Checked captions and playback speed controls</a:t>
            </a:r>
          </a:p>
        </p:txBody>
      </p:sp>
      <p:sp>
        <p:nvSpPr>
          <p:cNvPr id="7" name="">
            <a:extLst xmlns:a="http://schemas.openxmlformats.org/drawingml/2006/main">
              <a:ext uri="{FF2B5EF4-FFF2-40B4-BE49-F238E27FC236}">
                <a16:creationId xmlns:a16="http://schemas.microsoft.com/office/drawing/2014/main" id="{1237A92B-A93B-40BE-A392-5D1720E28AA3}"/>
              </a:ext>
            </a:extLst>
          </p:cNvPr>
          <p:cNvSpPr>
            <a:spLocks xmlns:a="http://schemas.openxmlformats.org/drawingml/2006/main" noGrp="1"/>
          </p:cNvSpPr>
          <p:nvPr/>
        </p:nvSpPr>
        <p:spPr>
          <a:xfrm xmlns:a="http://schemas.openxmlformats.org/drawingml/2006/main">
            <a:off x="609600" y="3048000"/>
            <a:ext cx="72199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344ACC"/>
                </a:solidFill>
                <a:latin typeface="DejaVu Sans"/>
                <a:ea typeface="DejaVu Sans"/>
                <a:cs typeface="DejaVu Sans"/>
              </a:defRPr>
            </a:pPr>
            <a:r>
              <a:rPr sz="2025" b="1">
                <a:solidFill>
                  <a:srgbClr val="344ACC"/>
                </a:solidFill>
                <a:latin typeface="DejaVu Sans"/>
                <a:ea typeface="DejaVu Sans"/>
                <a:cs typeface="DejaVu Sans"/>
              </a:rPr>
              <a:t>Performance</a:t>
            </a:r>
          </a:p>
        </p:txBody>
      </p:sp>
      <p:sp>
        <p:nvSpPr>
          <p:cNvPr id="8" name="">
            <a:extLst xmlns:a="http://schemas.openxmlformats.org/drawingml/2006/main">
              <a:ext uri="{FF2B5EF4-FFF2-40B4-BE49-F238E27FC236}">
                <a16:creationId xmlns:a16="http://schemas.microsoft.com/office/drawing/2014/main" id="{BBEF1A7D-FA4F-44A8-8EE7-24A9889A66A2}"/>
              </a:ext>
            </a:extLst>
          </p:cNvPr>
          <p:cNvSpPr>
            <a:spLocks xmlns:a="http://schemas.openxmlformats.org/drawingml/2006/main" noGrp="1"/>
          </p:cNvSpPr>
          <p:nvPr/>
        </p:nvSpPr>
        <p:spPr>
          <a:xfrm xmlns:a="http://schemas.openxmlformats.org/drawingml/2006/main">
            <a:off x="609600" y="3371850"/>
            <a:ext cx="72199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96578"/>
                </a:solidFill>
                <a:latin typeface="DejaVu Sans"/>
                <a:ea typeface="DejaVu Sans"/>
                <a:cs typeface="DejaVu Sans"/>
              </a:defRPr>
            </a:pPr>
            <a:r>
              <a:rPr sz="1725" b="0">
                <a:solidFill>
                  <a:srgbClr val="596578"/>
                </a:solidFill>
                <a:latin typeface="DejaVu Sans"/>
                <a:ea typeface="DejaVu Sans"/>
                <a:cs typeface="DejaVu Sans"/>
              </a:rPr>
              <a:t>Start playback within 3 seconds in a defined test</a:t>
            </a:r>
          </a:p>
        </p:txBody>
      </p:sp>
      <p:sp>
        <p:nvSpPr>
          <p:cNvPr id="9" name="">
            <a:extLst xmlns:a="http://schemas.openxmlformats.org/drawingml/2006/main">
              <a:ext uri="{FF2B5EF4-FFF2-40B4-BE49-F238E27FC236}">
                <a16:creationId xmlns:a16="http://schemas.microsoft.com/office/drawing/2014/main" id="{E985CE7E-05EC-4E52-BBC8-1D07A8EFD7A8}"/>
              </a:ext>
            </a:extLst>
          </p:cNvPr>
          <p:cNvSpPr>
            <a:spLocks xmlns:a="http://schemas.openxmlformats.org/drawingml/2006/main" noGrp="1"/>
          </p:cNvSpPr>
          <p:nvPr/>
        </p:nvSpPr>
        <p:spPr>
          <a:xfrm xmlns:a="http://schemas.openxmlformats.org/drawingml/2006/main">
            <a:off x="609600" y="3743325"/>
            <a:ext cx="72199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344ACC"/>
                </a:solidFill>
                <a:latin typeface="DejaVu Sans"/>
                <a:ea typeface="DejaVu Sans"/>
                <a:cs typeface="DejaVu Sans"/>
              </a:defRPr>
            </a:pPr>
            <a:r>
              <a:rPr sz="2025" b="1">
                <a:solidFill>
                  <a:srgbClr val="344ACC"/>
                </a:solidFill>
                <a:latin typeface="DejaVu Sans"/>
                <a:ea typeface="DejaVu Sans"/>
                <a:cs typeface="DejaVu Sans"/>
              </a:rPr>
              <a:t>Reliability</a:t>
            </a:r>
          </a:p>
        </p:txBody>
      </p:sp>
      <p:sp>
        <p:nvSpPr>
          <p:cNvPr id="10" name="">
            <a:extLst xmlns:a="http://schemas.openxmlformats.org/drawingml/2006/main">
              <a:ext uri="{FF2B5EF4-FFF2-40B4-BE49-F238E27FC236}">
                <a16:creationId xmlns:a16="http://schemas.microsoft.com/office/drawing/2014/main" id="{C084EB4A-D46D-416C-97F1-63A35E911203}"/>
              </a:ext>
            </a:extLst>
          </p:cNvPr>
          <p:cNvSpPr>
            <a:spLocks xmlns:a="http://schemas.openxmlformats.org/drawingml/2006/main" noGrp="1"/>
          </p:cNvSpPr>
          <p:nvPr/>
        </p:nvSpPr>
        <p:spPr>
          <a:xfrm xmlns:a="http://schemas.openxmlformats.org/drawingml/2006/main">
            <a:off x="609600" y="4067175"/>
            <a:ext cx="72199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96578"/>
                </a:solidFill>
                <a:latin typeface="DejaVu Sans"/>
                <a:ea typeface="DejaVu Sans"/>
                <a:cs typeface="DejaVu Sans"/>
              </a:defRPr>
            </a:pPr>
            <a:r>
              <a:rPr sz="1725" b="0">
                <a:solidFill>
                  <a:srgbClr val="596578"/>
                </a:solidFill>
                <a:latin typeface="DejaVu Sans"/>
                <a:ea typeface="DejaVu Sans"/>
                <a:cs typeface="DejaVu Sans"/>
              </a:rPr>
              <a:t>Check lesson links every week</a:t>
            </a:r>
          </a:p>
        </p:txBody>
      </p:sp>
      <p:sp>
        <p:nvSpPr>
          <p:cNvPr id="11" name="">
            <a:extLst xmlns:a="http://schemas.openxmlformats.org/drawingml/2006/main">
              <a:ext uri="{FF2B5EF4-FFF2-40B4-BE49-F238E27FC236}">
                <a16:creationId xmlns:a16="http://schemas.microsoft.com/office/drawing/2014/main" id="{6BEDE7D5-BDA3-4246-9FC4-43EAC4747F86}"/>
              </a:ext>
            </a:extLst>
          </p:cNvPr>
          <p:cNvSpPr>
            <a:spLocks xmlns:a="http://schemas.openxmlformats.org/drawingml/2006/main" noGrp="1"/>
          </p:cNvSpPr>
          <p:nvPr/>
        </p:nvSpPr>
        <p:spPr>
          <a:xfrm xmlns:a="http://schemas.openxmlformats.org/drawingml/2006/main">
            <a:off x="609600" y="4438650"/>
            <a:ext cx="72199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344ACC"/>
                </a:solidFill>
                <a:latin typeface="DejaVu Sans"/>
                <a:ea typeface="DejaVu Sans"/>
                <a:cs typeface="DejaVu Sans"/>
              </a:defRPr>
            </a:pPr>
            <a:r>
              <a:rPr sz="2025" b="1">
                <a:solidFill>
                  <a:srgbClr val="344ACC"/>
                </a:solidFill>
                <a:latin typeface="DejaVu Sans"/>
                <a:ea typeface="DejaVu Sans"/>
                <a:cs typeface="DejaVu Sans"/>
              </a:rPr>
              <a:t>Compatibility</a:t>
            </a:r>
          </a:p>
        </p:txBody>
      </p:sp>
      <p:sp>
        <p:nvSpPr>
          <p:cNvPr id="12" name="">
            <a:extLst xmlns:a="http://schemas.openxmlformats.org/drawingml/2006/main">
              <a:ext uri="{FF2B5EF4-FFF2-40B4-BE49-F238E27FC236}">
                <a16:creationId xmlns:a16="http://schemas.microsoft.com/office/drawing/2014/main" id="{054BC031-5CF5-47F1-977F-3DA2F5EDAE37}"/>
              </a:ext>
            </a:extLst>
          </p:cNvPr>
          <p:cNvSpPr>
            <a:spLocks xmlns:a="http://schemas.openxmlformats.org/drawingml/2006/main" noGrp="1"/>
          </p:cNvSpPr>
          <p:nvPr/>
        </p:nvSpPr>
        <p:spPr>
          <a:xfrm xmlns:a="http://schemas.openxmlformats.org/drawingml/2006/main">
            <a:off x="609600" y="4762500"/>
            <a:ext cx="72199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96578"/>
                </a:solidFill>
                <a:latin typeface="DejaVu Sans"/>
                <a:ea typeface="DejaVu Sans"/>
                <a:cs typeface="DejaVu Sans"/>
              </a:defRPr>
            </a:pPr>
            <a:r>
              <a:rPr sz="1725" b="0">
                <a:solidFill>
                  <a:srgbClr val="596578"/>
                </a:solidFill>
                <a:latin typeface="DejaVu Sans"/>
                <a:ea typeface="DejaVu Sans"/>
                <a:cs typeface="DejaVu Sans"/>
              </a:rPr>
              <a:t>Test phone, tablet and laptop access</a:t>
            </a:r>
          </a:p>
        </p:txBody>
      </p:sp>
      <p:sp>
        <p:nvSpPr>
          <p:cNvPr id="13" name="">
            <a:extLst xmlns:a="http://schemas.openxmlformats.org/drawingml/2006/main">
              <a:ext uri="{FF2B5EF4-FFF2-40B4-BE49-F238E27FC236}">
                <a16:creationId xmlns:a16="http://schemas.microsoft.com/office/drawing/2014/main" id="{A55ABE33-0A46-4190-9C62-A941CE3A2F85}"/>
              </a:ext>
            </a:extLst>
          </p:cNvPr>
          <p:cNvSpPr>
            <a:spLocks xmlns:a="http://schemas.openxmlformats.org/drawingml/2006/main" noGrp="1"/>
          </p:cNvSpPr>
          <p:nvPr/>
        </p:nvSpPr>
        <p:spPr>
          <a:xfrm xmlns:a="http://schemas.openxmlformats.org/drawingml/2006/main">
            <a:off x="609600" y="5133975"/>
            <a:ext cx="72199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344ACC"/>
                </a:solidFill>
                <a:latin typeface="DejaVu Sans"/>
                <a:ea typeface="DejaVu Sans"/>
                <a:cs typeface="DejaVu Sans"/>
              </a:defRPr>
            </a:pPr>
            <a:r>
              <a:rPr sz="2025" b="1">
                <a:solidFill>
                  <a:srgbClr val="344ACC"/>
                </a:solidFill>
                <a:latin typeface="DejaVu Sans"/>
                <a:ea typeface="DejaVu Sans"/>
                <a:cs typeface="DejaVu Sans"/>
              </a:rPr>
              <a:t>Visual clarity</a:t>
            </a:r>
          </a:p>
        </p:txBody>
      </p:sp>
      <p:sp>
        <p:nvSpPr>
          <p:cNvPr id="14" name="">
            <a:extLst xmlns:a="http://schemas.openxmlformats.org/drawingml/2006/main">
              <a:ext uri="{FF2B5EF4-FFF2-40B4-BE49-F238E27FC236}">
                <a16:creationId xmlns:a16="http://schemas.microsoft.com/office/drawing/2014/main" id="{5974DADA-A069-40E6-9C10-F5BC190100D1}"/>
              </a:ext>
            </a:extLst>
          </p:cNvPr>
          <p:cNvSpPr>
            <a:spLocks xmlns:a="http://schemas.openxmlformats.org/drawingml/2006/main" noGrp="1"/>
          </p:cNvSpPr>
          <p:nvPr/>
        </p:nvSpPr>
        <p:spPr>
          <a:xfrm xmlns:a="http://schemas.openxmlformats.org/drawingml/2006/main">
            <a:off x="609600" y="5457825"/>
            <a:ext cx="72199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96578"/>
                </a:solidFill>
                <a:latin typeface="DejaVu Sans"/>
                <a:ea typeface="DejaVu Sans"/>
                <a:cs typeface="DejaVu Sans"/>
              </a:defRPr>
            </a:pPr>
            <a:r>
              <a:rPr sz="1725" b="0">
                <a:solidFill>
                  <a:srgbClr val="596578"/>
                </a:solidFill>
                <a:latin typeface="DejaVu Sans"/>
                <a:ea typeface="DejaVu Sans"/>
                <a:cs typeface="DejaVu Sans"/>
              </a:rPr>
              <a:t>Readable titles and captions on mobile</a:t>
            </a:r>
          </a:p>
        </p:txBody>
      </p:sp>
      <p:pic>
        <p:nvPicPr>
          <p:cNvPr id="32" name=""/>
          <p:cNvPicPr>
            <a:picLocks xmlns:a="http://schemas.openxmlformats.org/drawingml/2006/main" noChangeAspect="1"/>
          </p:cNvPicPr>
          <p:nvPr/>
        </p:nvPicPr>
        <p:blipFill>
          <a:blip xmlns:r="http://schemas.openxmlformats.org/officeDocument/2006/relationships" xmlns:a="http://schemas.openxmlformats.org/drawingml/2006/main" r:embed="Rb830c8c4f2a84abb"/>
          <a:stretch xmlns:a="http://schemas.openxmlformats.org/drawingml/2006/main"/>
        </p:blipFill>
        <p:spPr>
          <a:xfrm xmlns:a="http://schemas.openxmlformats.org/drawingml/2006/main">
            <a:off x="8362950" y="2041159"/>
            <a:ext cx="3219450" cy="3223357"/>
          </a:xfrm>
          <a:prstGeom xmlns:a="http://schemas.openxmlformats.org/drawingml/2006/main" prst="rect">
            <a:avLst/>
          </a:prstGeom>
        </p:spPr>
      </p:pic>
      <p:sp>
        <p:nvSpPr>
          <p:cNvPr id="16" name="">
            <a:extLst xmlns:a="http://schemas.openxmlformats.org/drawingml/2006/main">
              <a:ext uri="{FF2B5EF4-FFF2-40B4-BE49-F238E27FC236}">
                <a16:creationId xmlns:a16="http://schemas.microsoft.com/office/drawing/2014/main" id="{D3CB9F7E-B112-43B7-9D89-6C9CFFD12ABC}"/>
              </a:ext>
            </a:extLst>
          </p:cNvPr>
          <p:cNvSpPr>
            <a:spLocks xmlns:a="http://schemas.openxmlformats.org/drawingml/2006/main" noGrp="1"/>
          </p:cNvSpPr>
          <p:nvPr/>
        </p:nvSpPr>
        <p:spPr>
          <a:xfrm xmlns:a="http://schemas.openxmlformats.org/drawingml/2006/main">
            <a:off x="8286750" y="5762625"/>
            <a:ext cx="32956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96578"/>
                </a:solidFill>
                <a:latin typeface="DejaVu Sans"/>
                <a:ea typeface="DejaVu Sans"/>
                <a:cs typeface="DejaVu Sans"/>
              </a:defRPr>
            </a:pPr>
            <a:r>
              <a:rPr sz="1350" b="0">
                <a:solidFill>
                  <a:srgbClr val="596578"/>
                </a:solidFill>
                <a:latin typeface="DejaVu Sans"/>
                <a:ea typeface="DejaVu Sans"/>
                <a:cs typeface="DejaVu Sans"/>
              </a:rPr>
              <a:t>Mobile learning example</a:t>
            </a:r>
          </a:p>
          <a:p xmlns:a="http://schemas.openxmlformats.org/drawingml/2006/main">
            <a:pPr>
              <a:defRPr sz="1350" b="0">
                <a:solidFill>
                  <a:srgbClr val="596578"/>
                </a:solidFill>
                <a:latin typeface="DejaVu Sans"/>
                <a:ea typeface="DejaVu Sans"/>
                <a:cs typeface="DejaVu Sans"/>
              </a:defRPr>
            </a:pPr>
            <a:r>
              <a:rPr sz="1350" b="0">
                <a:solidFill>
                  <a:srgbClr val="596578"/>
                </a:solidFill>
                <a:latin typeface="DejaVu Sans"/>
                <a:ea typeface="DejaVu Sans"/>
                <a:cs typeface="DejaVu Sans"/>
              </a:rPr>
              <a:t>TTMIK Courses, separate service</a:t>
            </a:r>
          </a:p>
        </p:txBody>
      </p:sp>
      <p:sp>
        <p:nvSpPr>
          <p:cNvPr id="17" name="">
            <a:extLst xmlns:a="http://schemas.openxmlformats.org/drawingml/2006/main">
              <a:ext uri="{FF2B5EF4-FFF2-40B4-BE49-F238E27FC236}">
                <a16:creationId xmlns:a16="http://schemas.microsoft.com/office/drawing/2014/main" id="{42BE9604-C644-435A-864F-77CFC1A3B50D}"/>
              </a:ext>
            </a:extLst>
          </p:cNvPr>
          <p:cNvSpPr>
            <a:spLocks xmlns:a="http://schemas.openxmlformats.org/drawingml/2006/main" noGrp="1"/>
          </p:cNvSpPr>
          <p:nvPr/>
        </p:nvSpPr>
        <p:spPr>
          <a:xfrm xmlns:a="http://schemas.openxmlformats.org/drawingml/2006/main">
            <a:off x="609600" y="6162675"/>
            <a:ext cx="757237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96578"/>
                </a:solidFill>
                <a:latin typeface="DejaVu Sans"/>
                <a:ea typeface="DejaVu Sans"/>
                <a:cs typeface="DejaVu Sans"/>
              </a:defRPr>
            </a:pPr>
            <a:r>
              <a:rPr sz="1425" b="0">
                <a:solidFill>
                  <a:srgbClr val="596578"/>
                </a:solidFill>
                <a:latin typeface="DejaVu Sans"/>
                <a:ea typeface="DejaVu Sans"/>
                <a:cs typeface="DejaVu Sans"/>
              </a:rPr>
              <a:t>Proposed acceptance targets, not measured performance results.</a:t>
            </a:r>
          </a:p>
        </p:txBody>
      </p:sp>
    </p:spTree>
    <p:extLst>
      <p:ext uri="{BB962C8B-B14F-4D97-AF65-F5344CB8AC3E}">
        <p14:creationId xmlns:p14="http://schemas.microsoft.com/office/powerpoint/2010/main" val="757456714"/>
      </p:ext>
    </p:extLst>
  </p:cSld>
</p:sld>
</file>

<file path=ppt/slides/slide6.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E4238A25-9A2B-46B3-8BE3-BECAEADA50C2}"/>
              </a:ext>
            </a:extLst>
          </p:cNvPr>
          <p:cNvSpPr>
            <a:spLocks xmlns:a="http://schemas.openxmlformats.org/drawingml/2006/main" noGrp="1"/>
          </p:cNvSpPr>
          <p:nvPr/>
        </p:nvSpPr>
        <p:spPr>
          <a:xfrm xmlns:a="http://schemas.openxmlformats.org/drawingml/2006/main">
            <a:off x="609600" y="523875"/>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4233D"/>
                </a:solidFill>
                <a:latin typeface="DejaVu Sans"/>
                <a:ea typeface="DejaVu Sans"/>
                <a:cs typeface="DejaVu Sans"/>
              </a:defRPr>
            </a:pPr>
            <a:r>
              <a:rPr sz="3300" b="1">
                <a:solidFill>
                  <a:srgbClr val="14233D"/>
                </a:solidFill>
                <a:latin typeface="DejaVu Sans"/>
                <a:ea typeface="DejaVu Sans"/>
                <a:cs typeface="DejaVu Sans"/>
              </a:rPr>
              <a:t>Strengths and weaknesses</a:t>
            </a:r>
          </a:p>
        </p:txBody>
      </p:sp>
      <p:sp>
        <p:nvSpPr>
          <p:cNvPr id="2" name="">
            <a:extLst xmlns:a="http://schemas.openxmlformats.org/drawingml/2006/main">
              <a:ext uri="{FF2B5EF4-FFF2-40B4-BE49-F238E27FC236}">
                <a16:creationId xmlns:a16="http://schemas.microsoft.com/office/drawing/2014/main" id="{53B7B84C-ADFB-460F-81BE-5FE8550527F2}"/>
              </a:ext>
            </a:extLst>
          </p:cNvPr>
          <p:cNvSpPr>
            <a:spLocks xmlns:a="http://schemas.openxmlformats.org/drawingml/2006/main" noGrp="1"/>
          </p:cNvSpPr>
          <p:nvPr/>
        </p:nvSpPr>
        <p:spPr>
          <a:xfrm xmlns:a="http://schemas.openxmlformats.org/drawingml/2006/main">
            <a:off x="11049000" y="6315075"/>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96578"/>
                </a:solidFill>
                <a:latin typeface="DejaVu Sans"/>
                <a:ea typeface="DejaVu Sans"/>
                <a:cs typeface="DejaVu Sans"/>
              </a:defRPr>
            </a:pPr>
            <a:r>
              <a:rPr sz="1350" b="0">
                <a:solidFill>
                  <a:srgbClr val="596578"/>
                </a:solidFill>
                <a:latin typeface="DejaVu Sans"/>
                <a:ea typeface="DejaVu Sans"/>
                <a:cs typeface="DejaVu Sans"/>
              </a:rPr>
              <a:t>06</a:t>
            </a:r>
          </a:p>
        </p:txBody>
      </p:sp>
      <p:sp>
        <p:nvSpPr>
          <p:cNvPr id="3" name="">
            <a:extLst xmlns:a="http://schemas.openxmlformats.org/drawingml/2006/main">
              <a:ext uri="{FF2B5EF4-FFF2-40B4-BE49-F238E27FC236}">
                <a16:creationId xmlns:a16="http://schemas.microsoft.com/office/drawing/2014/main" id="{2334646C-3A3D-4851-8936-ACB6836BE30F}"/>
              </a:ext>
            </a:extLst>
          </p:cNvPr>
          <p:cNvSpPr>
            <a:spLocks xmlns:a="http://schemas.openxmlformats.org/drawingml/2006/main" noGrp="1"/>
          </p:cNvSpPr>
          <p:nvPr/>
        </p:nvSpPr>
        <p:spPr>
          <a:xfrm xmlns:a="http://schemas.openxmlformats.org/drawingml/2006/main">
            <a:off x="609600" y="1581150"/>
            <a:ext cx="50101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344ACC"/>
                </a:solidFill>
                <a:latin typeface="DejaVu Sans"/>
                <a:ea typeface="DejaVu Sans"/>
                <a:cs typeface="DejaVu Sans"/>
              </a:defRPr>
            </a:pPr>
            <a:r>
              <a:rPr sz="1500" b="1">
                <a:solidFill>
                  <a:srgbClr val="344ACC"/>
                </a:solidFill>
                <a:latin typeface="DejaVu Sans"/>
                <a:ea typeface="DejaVu Sans"/>
                <a:cs typeface="DejaVu Sans"/>
              </a:rPr>
              <a:t>CONTENT ACCESS</a:t>
            </a:r>
          </a:p>
        </p:txBody>
      </p:sp>
      <p:sp>
        <p:nvSpPr>
          <p:cNvPr id="4" name="">
            <a:extLst xmlns:a="http://schemas.openxmlformats.org/drawingml/2006/main">
              <a:ext uri="{FF2B5EF4-FFF2-40B4-BE49-F238E27FC236}">
                <a16:creationId xmlns:a16="http://schemas.microsoft.com/office/drawing/2014/main" id="{5B01CB7D-1F5E-4AD8-AF85-E25B2BEBEDBB}"/>
              </a:ext>
            </a:extLst>
          </p:cNvPr>
          <p:cNvSpPr>
            <a:spLocks xmlns:a="http://schemas.openxmlformats.org/drawingml/2006/main" noGrp="1"/>
          </p:cNvSpPr>
          <p:nvPr/>
        </p:nvSpPr>
        <p:spPr>
          <a:xfrm xmlns:a="http://schemas.openxmlformats.org/drawingml/2006/main">
            <a:off x="609600" y="1990725"/>
            <a:ext cx="50101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4233D"/>
                </a:solidFill>
                <a:latin typeface="DejaVu Sans"/>
                <a:ea typeface="DejaVu Sans"/>
                <a:cs typeface="DejaVu Sans"/>
              </a:defRPr>
            </a:pPr>
            <a:r>
              <a:rPr sz="3300" b="1">
                <a:solidFill>
                  <a:srgbClr val="14233D"/>
                </a:solidFill>
                <a:latin typeface="DejaVu Sans"/>
                <a:ea typeface="DejaVu Sans"/>
                <a:cs typeface="DejaVu Sans"/>
              </a:rPr>
              <a:t>Easy to watch</a:t>
            </a:r>
          </a:p>
        </p:txBody>
      </p:sp>
      <p:sp>
        <p:nvSpPr>
          <p:cNvPr id="5" name="">
            <a:extLst xmlns:a="http://schemas.openxmlformats.org/drawingml/2006/main">
              <a:ext uri="{FF2B5EF4-FFF2-40B4-BE49-F238E27FC236}">
                <a16:creationId xmlns:a16="http://schemas.microsoft.com/office/drawing/2014/main" id="{23D2B9B5-BE5A-44F1-B91D-B9D4879CC560}"/>
              </a:ext>
            </a:extLst>
          </p:cNvPr>
          <p:cNvSpPr>
            <a:spLocks xmlns:a="http://schemas.openxmlformats.org/drawingml/2006/main" noGrp="1"/>
          </p:cNvSpPr>
          <p:nvPr/>
        </p:nvSpPr>
        <p:spPr>
          <a:xfrm xmlns:a="http://schemas.openxmlformats.org/drawingml/2006/main">
            <a:off x="6400800" y="1581150"/>
            <a:ext cx="51816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D7463E"/>
                </a:solidFill>
                <a:latin typeface="DejaVu Sans"/>
                <a:ea typeface="DejaVu Sans"/>
                <a:cs typeface="DejaVu Sans"/>
              </a:defRPr>
            </a:pPr>
            <a:r>
              <a:rPr sz="1500" b="1">
                <a:solidFill>
                  <a:srgbClr val="D7463E"/>
                </a:solidFill>
                <a:latin typeface="DejaVu Sans"/>
                <a:ea typeface="DejaVu Sans"/>
                <a:cs typeface="DejaVu Sans"/>
              </a:rPr>
              <a:t>LEARNING EVIDENCE</a:t>
            </a:r>
          </a:p>
        </p:txBody>
      </p:sp>
      <p:sp>
        <p:nvSpPr>
          <p:cNvPr id="6" name="">
            <a:extLst xmlns:a="http://schemas.openxmlformats.org/drawingml/2006/main">
              <a:ext uri="{FF2B5EF4-FFF2-40B4-BE49-F238E27FC236}">
                <a16:creationId xmlns:a16="http://schemas.microsoft.com/office/drawing/2014/main" id="{E6357479-9B05-4207-9927-6D0BF4904E14}"/>
              </a:ext>
            </a:extLst>
          </p:cNvPr>
          <p:cNvSpPr>
            <a:spLocks xmlns:a="http://schemas.openxmlformats.org/drawingml/2006/main" noGrp="1"/>
          </p:cNvSpPr>
          <p:nvPr/>
        </p:nvSpPr>
        <p:spPr>
          <a:xfrm xmlns:a="http://schemas.openxmlformats.org/drawingml/2006/main">
            <a:off x="6400800" y="1990725"/>
            <a:ext cx="51816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4233D"/>
                </a:solidFill>
                <a:latin typeface="DejaVu Sans"/>
                <a:ea typeface="DejaVu Sans"/>
                <a:cs typeface="DejaVu Sans"/>
              </a:defRPr>
            </a:pPr>
            <a:r>
              <a:rPr sz="3300" b="1">
                <a:solidFill>
                  <a:srgbClr val="14233D"/>
                </a:solidFill>
                <a:latin typeface="DejaVu Sans"/>
                <a:ea typeface="DejaVu Sans"/>
                <a:cs typeface="DejaVu Sans"/>
              </a:rPr>
              <a:t>Harder to verify</a:t>
            </a:r>
          </a:p>
        </p:txBody>
      </p:sp>
      <p:sp>
        <p:nvSpPr>
          <p:cNvPr id="7" name="">
            <a:extLst xmlns:a="http://schemas.openxmlformats.org/drawingml/2006/main">
              <a:ext uri="{FF2B5EF4-FFF2-40B4-BE49-F238E27FC236}">
                <a16:creationId xmlns:a16="http://schemas.microsoft.com/office/drawing/2014/main" id="{80537E66-29E3-42D3-B681-6E3B862B3E30}"/>
              </a:ext>
            </a:extLst>
          </p:cNvPr>
          <p:cNvSpPr>
            <a:spLocks xmlns:a="http://schemas.openxmlformats.org/drawingml/2006/main" noGrp="1"/>
          </p:cNvSpPr>
          <p:nvPr/>
        </p:nvSpPr>
        <p:spPr>
          <a:xfrm xmlns:a="http://schemas.openxmlformats.org/drawingml/2006/main">
            <a:off x="609600" y="3067050"/>
            <a:ext cx="4000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344ACC"/>
                </a:solidFill>
                <a:latin typeface="DejaVu Sans"/>
                <a:ea typeface="DejaVu Sans"/>
                <a:cs typeface="DejaVu Sans"/>
              </a:defRPr>
            </a:pPr>
            <a:r>
              <a:rPr sz="2625" b="1">
                <a:solidFill>
                  <a:srgbClr val="344ACC"/>
                </a:solidFill>
                <a:latin typeface="DejaVu Sans"/>
                <a:ea typeface="DejaVu Sans"/>
                <a:cs typeface="DejaVu Sans"/>
              </a:rPr>
              <a:t>+</a:t>
            </a:r>
          </a:p>
        </p:txBody>
      </p:sp>
      <p:sp>
        <p:nvSpPr>
          <p:cNvPr id="8" name="">
            <a:extLst xmlns:a="http://schemas.openxmlformats.org/drawingml/2006/main">
              <a:ext uri="{FF2B5EF4-FFF2-40B4-BE49-F238E27FC236}">
                <a16:creationId xmlns:a16="http://schemas.microsoft.com/office/drawing/2014/main" id="{29924110-B33B-4A34-A9C3-408D996CFE4B}"/>
              </a:ext>
            </a:extLst>
          </p:cNvPr>
          <p:cNvSpPr>
            <a:spLocks xmlns:a="http://schemas.openxmlformats.org/drawingml/2006/main" noGrp="1"/>
          </p:cNvSpPr>
          <p:nvPr/>
        </p:nvSpPr>
        <p:spPr>
          <a:xfrm xmlns:a="http://schemas.openxmlformats.org/drawingml/2006/main">
            <a:off x="1104900" y="3124200"/>
            <a:ext cx="4562475"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4233D"/>
                </a:solidFill>
                <a:latin typeface="DejaVu Sans"/>
                <a:ea typeface="DejaVu Sans"/>
                <a:cs typeface="DejaVu Sans"/>
              </a:defRPr>
            </a:pPr>
            <a:r>
              <a:rPr sz="1950" b="0">
                <a:solidFill>
                  <a:srgbClr val="14233D"/>
                </a:solidFill>
                <a:latin typeface="DejaVu Sans"/>
                <a:ea typeface="DejaVu Sans"/>
                <a:cs typeface="DejaVu Sans"/>
              </a:rPr>
              <a:t>Free, convenient video access</a:t>
            </a:r>
          </a:p>
        </p:txBody>
      </p:sp>
      <p:sp>
        <p:nvSpPr>
          <p:cNvPr id="9" name="">
            <a:extLst xmlns:a="http://schemas.openxmlformats.org/drawingml/2006/main">
              <a:ext uri="{FF2B5EF4-FFF2-40B4-BE49-F238E27FC236}">
                <a16:creationId xmlns:a16="http://schemas.microsoft.com/office/drawing/2014/main" id="{E93AD109-8855-4D15-9187-16E76C624991}"/>
              </a:ext>
            </a:extLst>
          </p:cNvPr>
          <p:cNvSpPr>
            <a:spLocks xmlns:a="http://schemas.openxmlformats.org/drawingml/2006/main" noGrp="1"/>
          </p:cNvSpPr>
          <p:nvPr/>
        </p:nvSpPr>
        <p:spPr>
          <a:xfrm xmlns:a="http://schemas.openxmlformats.org/drawingml/2006/main">
            <a:off x="6400800" y="3067050"/>
            <a:ext cx="4000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D7463E"/>
                </a:solidFill>
                <a:latin typeface="DejaVu Sans"/>
                <a:ea typeface="DejaVu Sans"/>
                <a:cs typeface="DejaVu Sans"/>
              </a:defRPr>
            </a:pPr>
            <a:r>
              <a:rPr sz="2625" b="1">
                <a:solidFill>
                  <a:srgbClr val="D7463E"/>
                </a:solidFill>
                <a:latin typeface="DejaVu Sans"/>
                <a:ea typeface="DejaVu Sans"/>
                <a:cs typeface="DejaVu Sans"/>
              </a:rPr>
              <a:t>?</a:t>
            </a:r>
          </a:p>
        </p:txBody>
      </p:sp>
      <p:sp>
        <p:nvSpPr>
          <p:cNvPr id="10" name="">
            <a:extLst xmlns:a="http://schemas.openxmlformats.org/drawingml/2006/main">
              <a:ext uri="{FF2B5EF4-FFF2-40B4-BE49-F238E27FC236}">
                <a16:creationId xmlns:a16="http://schemas.microsoft.com/office/drawing/2014/main" id="{989FAE40-4739-47D4-94C1-0BC633C93113}"/>
              </a:ext>
            </a:extLst>
          </p:cNvPr>
          <p:cNvSpPr>
            <a:spLocks xmlns:a="http://schemas.openxmlformats.org/drawingml/2006/main" noGrp="1"/>
          </p:cNvSpPr>
          <p:nvPr/>
        </p:nvSpPr>
        <p:spPr>
          <a:xfrm xmlns:a="http://schemas.openxmlformats.org/drawingml/2006/main">
            <a:off x="6886575" y="3124200"/>
            <a:ext cx="470535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4233D"/>
                </a:solidFill>
                <a:latin typeface="DejaVu Sans"/>
                <a:ea typeface="DejaVu Sans"/>
                <a:cs typeface="DejaVu Sans"/>
              </a:defRPr>
            </a:pPr>
            <a:r>
              <a:rPr sz="1950" b="0">
                <a:solidFill>
                  <a:srgbClr val="14233D"/>
                </a:solidFill>
                <a:latin typeface="DejaVu Sans"/>
                <a:ea typeface="DejaVu Sans"/>
                <a:cs typeface="DejaVu Sans"/>
              </a:rPr>
              <a:t>Learners must choose the next lesson</a:t>
            </a:r>
          </a:p>
        </p:txBody>
      </p:sp>
      <p:sp>
        <p:nvSpPr>
          <p:cNvPr id="11" name="">
            <a:extLst xmlns:a="http://schemas.openxmlformats.org/drawingml/2006/main">
              <a:ext uri="{FF2B5EF4-FFF2-40B4-BE49-F238E27FC236}">
                <a16:creationId xmlns:a16="http://schemas.microsoft.com/office/drawing/2014/main" id="{FC851AFE-6392-4A64-88F8-6258ABA88748}"/>
              </a:ext>
            </a:extLst>
          </p:cNvPr>
          <p:cNvSpPr>
            <a:spLocks xmlns:a="http://schemas.openxmlformats.org/drawingml/2006/main" noGrp="1"/>
          </p:cNvSpPr>
          <p:nvPr/>
        </p:nvSpPr>
        <p:spPr>
          <a:xfrm xmlns:a="http://schemas.openxmlformats.org/drawingml/2006/main">
            <a:off x="609600" y="3733800"/>
            <a:ext cx="4000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344ACC"/>
                </a:solidFill>
                <a:latin typeface="DejaVu Sans"/>
                <a:ea typeface="DejaVu Sans"/>
                <a:cs typeface="DejaVu Sans"/>
              </a:defRPr>
            </a:pPr>
            <a:r>
              <a:rPr sz="2625" b="1">
                <a:solidFill>
                  <a:srgbClr val="344ACC"/>
                </a:solidFill>
                <a:latin typeface="DejaVu Sans"/>
                <a:ea typeface="DejaVu Sans"/>
                <a:cs typeface="DejaVu Sans"/>
              </a:rPr>
              <a:t>+</a:t>
            </a:r>
          </a:p>
        </p:txBody>
      </p:sp>
      <p:sp>
        <p:nvSpPr>
          <p:cNvPr id="12" name="">
            <a:extLst xmlns:a="http://schemas.openxmlformats.org/drawingml/2006/main">
              <a:ext uri="{FF2B5EF4-FFF2-40B4-BE49-F238E27FC236}">
                <a16:creationId xmlns:a16="http://schemas.microsoft.com/office/drawing/2014/main" id="{6F711941-0E2B-48F9-81CD-38AAF8385AC3}"/>
              </a:ext>
            </a:extLst>
          </p:cNvPr>
          <p:cNvSpPr>
            <a:spLocks xmlns:a="http://schemas.openxmlformats.org/drawingml/2006/main" noGrp="1"/>
          </p:cNvSpPr>
          <p:nvPr/>
        </p:nvSpPr>
        <p:spPr>
          <a:xfrm xmlns:a="http://schemas.openxmlformats.org/drawingml/2006/main">
            <a:off x="1104900" y="3790950"/>
            <a:ext cx="4562475"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4233D"/>
                </a:solidFill>
                <a:latin typeface="DejaVu Sans"/>
                <a:ea typeface="DejaVu Sans"/>
                <a:cs typeface="DejaVu Sans"/>
              </a:defRPr>
            </a:pPr>
            <a:r>
              <a:rPr sz="1950" b="0">
                <a:solidFill>
                  <a:srgbClr val="14233D"/>
                </a:solidFill>
                <a:latin typeface="DejaVu Sans"/>
                <a:ea typeface="DejaVu Sans"/>
                <a:cs typeface="DejaVu Sans"/>
              </a:rPr>
              <a:t>Clear explanations for beginners</a:t>
            </a:r>
          </a:p>
        </p:txBody>
      </p:sp>
      <p:sp>
        <p:nvSpPr>
          <p:cNvPr id="13" name="">
            <a:extLst xmlns:a="http://schemas.openxmlformats.org/drawingml/2006/main">
              <a:ext uri="{FF2B5EF4-FFF2-40B4-BE49-F238E27FC236}">
                <a16:creationId xmlns:a16="http://schemas.microsoft.com/office/drawing/2014/main" id="{737065FC-E4F9-448E-BE3A-6419D84D83F0}"/>
              </a:ext>
            </a:extLst>
          </p:cNvPr>
          <p:cNvSpPr>
            <a:spLocks xmlns:a="http://schemas.openxmlformats.org/drawingml/2006/main" noGrp="1"/>
          </p:cNvSpPr>
          <p:nvPr/>
        </p:nvSpPr>
        <p:spPr>
          <a:xfrm xmlns:a="http://schemas.openxmlformats.org/drawingml/2006/main">
            <a:off x="6400800" y="3733800"/>
            <a:ext cx="4000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D7463E"/>
                </a:solidFill>
                <a:latin typeface="DejaVu Sans"/>
                <a:ea typeface="DejaVu Sans"/>
                <a:cs typeface="DejaVu Sans"/>
              </a:defRPr>
            </a:pPr>
            <a:r>
              <a:rPr sz="2625" b="1">
                <a:solidFill>
                  <a:srgbClr val="D7463E"/>
                </a:solidFill>
                <a:latin typeface="DejaVu Sans"/>
                <a:ea typeface="DejaVu Sans"/>
                <a:cs typeface="DejaVu Sans"/>
              </a:rPr>
              <a:t>?</a:t>
            </a:r>
          </a:p>
        </p:txBody>
      </p:sp>
      <p:sp>
        <p:nvSpPr>
          <p:cNvPr id="14" name="">
            <a:extLst xmlns:a="http://schemas.openxmlformats.org/drawingml/2006/main">
              <a:ext uri="{FF2B5EF4-FFF2-40B4-BE49-F238E27FC236}">
                <a16:creationId xmlns:a16="http://schemas.microsoft.com/office/drawing/2014/main" id="{46BA67FA-793B-48D6-A542-B22759CEF620}"/>
              </a:ext>
            </a:extLst>
          </p:cNvPr>
          <p:cNvSpPr>
            <a:spLocks xmlns:a="http://schemas.openxmlformats.org/drawingml/2006/main" noGrp="1"/>
          </p:cNvSpPr>
          <p:nvPr/>
        </p:nvSpPr>
        <p:spPr>
          <a:xfrm xmlns:a="http://schemas.openxmlformats.org/drawingml/2006/main">
            <a:off x="6886575" y="3790950"/>
            <a:ext cx="470535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4233D"/>
                </a:solidFill>
                <a:latin typeface="DejaVu Sans"/>
                <a:ea typeface="DejaVu Sans"/>
                <a:cs typeface="DejaVu Sans"/>
              </a:defRPr>
            </a:pPr>
            <a:r>
              <a:rPr sz="1950" b="0">
                <a:solidFill>
                  <a:srgbClr val="14233D"/>
                </a:solidFill>
                <a:latin typeface="DejaVu Sans"/>
                <a:ea typeface="DejaVu Sans"/>
                <a:cs typeface="DejaVu Sans"/>
              </a:rPr>
              <a:t>Watching does not show understanding</a:t>
            </a:r>
          </a:p>
        </p:txBody>
      </p:sp>
      <p:sp>
        <p:nvSpPr>
          <p:cNvPr id="15" name="">
            <a:extLst xmlns:a="http://schemas.openxmlformats.org/drawingml/2006/main">
              <a:ext uri="{FF2B5EF4-FFF2-40B4-BE49-F238E27FC236}">
                <a16:creationId xmlns:a16="http://schemas.microsoft.com/office/drawing/2014/main" id="{9B927E96-478F-4357-A248-6B3EDEC7A66A}"/>
              </a:ext>
            </a:extLst>
          </p:cNvPr>
          <p:cNvSpPr>
            <a:spLocks xmlns:a="http://schemas.openxmlformats.org/drawingml/2006/main" noGrp="1"/>
          </p:cNvSpPr>
          <p:nvPr/>
        </p:nvSpPr>
        <p:spPr>
          <a:xfrm xmlns:a="http://schemas.openxmlformats.org/drawingml/2006/main">
            <a:off x="609600" y="4400550"/>
            <a:ext cx="4000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344ACC"/>
                </a:solidFill>
                <a:latin typeface="DejaVu Sans"/>
                <a:ea typeface="DejaVu Sans"/>
                <a:cs typeface="DejaVu Sans"/>
              </a:defRPr>
            </a:pPr>
            <a:r>
              <a:rPr sz="2625" b="1">
                <a:solidFill>
                  <a:srgbClr val="344ACC"/>
                </a:solidFill>
                <a:latin typeface="DejaVu Sans"/>
                <a:ea typeface="DejaVu Sans"/>
                <a:cs typeface="DejaVu Sans"/>
              </a:rPr>
              <a:t>+</a:t>
            </a:r>
          </a:p>
        </p:txBody>
      </p:sp>
      <p:sp>
        <p:nvSpPr>
          <p:cNvPr id="16" name="">
            <a:extLst xmlns:a="http://schemas.openxmlformats.org/drawingml/2006/main">
              <a:ext uri="{FF2B5EF4-FFF2-40B4-BE49-F238E27FC236}">
                <a16:creationId xmlns:a16="http://schemas.microsoft.com/office/drawing/2014/main" id="{49B30566-0C96-48EA-B610-B1547A136423}"/>
              </a:ext>
            </a:extLst>
          </p:cNvPr>
          <p:cNvSpPr>
            <a:spLocks xmlns:a="http://schemas.openxmlformats.org/drawingml/2006/main" noGrp="1"/>
          </p:cNvSpPr>
          <p:nvPr/>
        </p:nvSpPr>
        <p:spPr>
          <a:xfrm xmlns:a="http://schemas.openxmlformats.org/drawingml/2006/main">
            <a:off x="1104900" y="4457700"/>
            <a:ext cx="4562475"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4233D"/>
                </a:solidFill>
                <a:latin typeface="DejaVu Sans"/>
                <a:ea typeface="DejaVu Sans"/>
                <a:cs typeface="DejaVu Sans"/>
              </a:defRPr>
            </a:pPr>
            <a:r>
              <a:rPr sz="1950" b="0">
                <a:solidFill>
                  <a:srgbClr val="14233D"/>
                </a:solidFill>
                <a:latin typeface="DejaVu Sans"/>
                <a:ea typeface="DejaVu Sans"/>
                <a:cs typeface="DejaVu Sans"/>
              </a:rPr>
              <a:t>A broad learning catalogue</a:t>
            </a:r>
          </a:p>
        </p:txBody>
      </p:sp>
      <p:sp>
        <p:nvSpPr>
          <p:cNvPr id="17" name="">
            <a:extLst xmlns:a="http://schemas.openxmlformats.org/drawingml/2006/main">
              <a:ext uri="{FF2B5EF4-FFF2-40B4-BE49-F238E27FC236}">
                <a16:creationId xmlns:a16="http://schemas.microsoft.com/office/drawing/2014/main" id="{8B2C93DE-5F84-4DC3-9F1C-EC6F8F1D2B78}"/>
              </a:ext>
            </a:extLst>
          </p:cNvPr>
          <p:cNvSpPr>
            <a:spLocks xmlns:a="http://schemas.openxmlformats.org/drawingml/2006/main" noGrp="1"/>
          </p:cNvSpPr>
          <p:nvPr/>
        </p:nvSpPr>
        <p:spPr>
          <a:xfrm xmlns:a="http://schemas.openxmlformats.org/drawingml/2006/main">
            <a:off x="6400800" y="4400550"/>
            <a:ext cx="4000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D7463E"/>
                </a:solidFill>
                <a:latin typeface="DejaVu Sans"/>
                <a:ea typeface="DejaVu Sans"/>
                <a:cs typeface="DejaVu Sans"/>
              </a:defRPr>
            </a:pPr>
            <a:r>
              <a:rPr sz="2625" b="1">
                <a:solidFill>
                  <a:srgbClr val="D7463E"/>
                </a:solidFill>
                <a:latin typeface="DejaVu Sans"/>
                <a:ea typeface="DejaVu Sans"/>
                <a:cs typeface="DejaVu Sans"/>
              </a:rPr>
              <a:t>?</a:t>
            </a:r>
          </a:p>
        </p:txBody>
      </p:sp>
      <p:sp>
        <p:nvSpPr>
          <p:cNvPr id="18" name="">
            <a:extLst xmlns:a="http://schemas.openxmlformats.org/drawingml/2006/main">
              <a:ext uri="{FF2B5EF4-FFF2-40B4-BE49-F238E27FC236}">
                <a16:creationId xmlns:a16="http://schemas.microsoft.com/office/drawing/2014/main" id="{2320F19A-B81B-4F4E-9903-014B97E6F711}"/>
              </a:ext>
            </a:extLst>
          </p:cNvPr>
          <p:cNvSpPr>
            <a:spLocks xmlns:a="http://schemas.openxmlformats.org/drawingml/2006/main" noGrp="1"/>
          </p:cNvSpPr>
          <p:nvPr/>
        </p:nvSpPr>
        <p:spPr>
          <a:xfrm xmlns:a="http://schemas.openxmlformats.org/drawingml/2006/main">
            <a:off x="6886575" y="4457700"/>
            <a:ext cx="470535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4233D"/>
                </a:solidFill>
                <a:latin typeface="DejaVu Sans"/>
                <a:ea typeface="DejaVu Sans"/>
                <a:cs typeface="DejaVu Sans"/>
              </a:defRPr>
            </a:pPr>
            <a:r>
              <a:rPr sz="1950" b="0">
                <a:solidFill>
                  <a:srgbClr val="14233D"/>
                </a:solidFill>
                <a:latin typeface="DejaVu Sans"/>
                <a:ea typeface="DejaVu Sans"/>
                <a:cs typeface="DejaVu Sans"/>
              </a:rPr>
              <a:t>Limited assessment inside the channel</a:t>
            </a:r>
          </a:p>
        </p:txBody>
      </p:sp>
      <p:sp>
        <p:nvSpPr>
          <p:cNvPr id="19" name="">
            <a:extLst xmlns:a="http://schemas.openxmlformats.org/drawingml/2006/main">
              <a:ext uri="{FF2B5EF4-FFF2-40B4-BE49-F238E27FC236}">
                <a16:creationId xmlns:a16="http://schemas.microsoft.com/office/drawing/2014/main" id="{6943A88A-0F2B-4A7D-A716-BD3D75EC00D8}"/>
              </a:ext>
            </a:extLst>
          </p:cNvPr>
          <p:cNvSpPr>
            <a:spLocks xmlns:a="http://schemas.openxmlformats.org/drawingml/2006/main" noGrp="1"/>
          </p:cNvSpPr>
          <p:nvPr/>
        </p:nvSpPr>
        <p:spPr>
          <a:xfrm xmlns:a="http://schemas.openxmlformats.org/drawingml/2006/main">
            <a:off x="609600" y="5067300"/>
            <a:ext cx="4000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344ACC"/>
                </a:solidFill>
                <a:latin typeface="DejaVu Sans"/>
                <a:ea typeface="DejaVu Sans"/>
                <a:cs typeface="DejaVu Sans"/>
              </a:defRPr>
            </a:pPr>
            <a:r>
              <a:rPr sz="2625" b="1">
                <a:solidFill>
                  <a:srgbClr val="344ACC"/>
                </a:solidFill>
                <a:latin typeface="DejaVu Sans"/>
                <a:ea typeface="DejaVu Sans"/>
                <a:cs typeface="DejaVu Sans"/>
              </a:rPr>
              <a:t>+</a:t>
            </a:r>
          </a:p>
        </p:txBody>
      </p:sp>
      <p:sp>
        <p:nvSpPr>
          <p:cNvPr id="20" name="">
            <a:extLst xmlns:a="http://schemas.openxmlformats.org/drawingml/2006/main">
              <a:ext uri="{FF2B5EF4-FFF2-40B4-BE49-F238E27FC236}">
                <a16:creationId xmlns:a16="http://schemas.microsoft.com/office/drawing/2014/main" id="{546E85AD-4137-4087-9E66-A989F5AC4A60}"/>
              </a:ext>
            </a:extLst>
          </p:cNvPr>
          <p:cNvSpPr>
            <a:spLocks xmlns:a="http://schemas.openxmlformats.org/drawingml/2006/main" noGrp="1"/>
          </p:cNvSpPr>
          <p:nvPr/>
        </p:nvSpPr>
        <p:spPr>
          <a:xfrm xmlns:a="http://schemas.openxmlformats.org/drawingml/2006/main">
            <a:off x="1104900" y="5124450"/>
            <a:ext cx="4562475"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4233D"/>
                </a:solidFill>
                <a:latin typeface="DejaVu Sans"/>
                <a:ea typeface="DejaVu Sans"/>
                <a:cs typeface="DejaVu Sans"/>
              </a:defRPr>
            </a:pPr>
            <a:r>
              <a:rPr sz="1950" b="0">
                <a:solidFill>
                  <a:srgbClr val="14233D"/>
                </a:solidFill>
                <a:latin typeface="DejaVu Sans"/>
                <a:ea typeface="DejaVu Sans"/>
                <a:cs typeface="DejaVu Sans"/>
              </a:rPr>
              <a:t>Korean instructors and natural speech</a:t>
            </a:r>
          </a:p>
        </p:txBody>
      </p:sp>
      <p:sp>
        <p:nvSpPr>
          <p:cNvPr id="21" name="">
            <a:extLst xmlns:a="http://schemas.openxmlformats.org/drawingml/2006/main">
              <a:ext uri="{FF2B5EF4-FFF2-40B4-BE49-F238E27FC236}">
                <a16:creationId xmlns:a16="http://schemas.microsoft.com/office/drawing/2014/main" id="{BCE30E88-BEA4-4354-944F-1844902C0F71}"/>
              </a:ext>
            </a:extLst>
          </p:cNvPr>
          <p:cNvSpPr>
            <a:spLocks xmlns:a="http://schemas.openxmlformats.org/drawingml/2006/main" noGrp="1"/>
          </p:cNvSpPr>
          <p:nvPr/>
        </p:nvSpPr>
        <p:spPr>
          <a:xfrm xmlns:a="http://schemas.openxmlformats.org/drawingml/2006/main">
            <a:off x="6400800" y="5067300"/>
            <a:ext cx="4000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D7463E"/>
                </a:solidFill>
                <a:latin typeface="DejaVu Sans"/>
                <a:ea typeface="DejaVu Sans"/>
                <a:cs typeface="DejaVu Sans"/>
              </a:defRPr>
            </a:pPr>
            <a:r>
              <a:rPr sz="2625" b="1">
                <a:solidFill>
                  <a:srgbClr val="D7463E"/>
                </a:solidFill>
                <a:latin typeface="DejaVu Sans"/>
                <a:ea typeface="DejaVu Sans"/>
                <a:cs typeface="DejaVu Sans"/>
              </a:rPr>
              <a:t>?</a:t>
            </a:r>
          </a:p>
        </p:txBody>
      </p:sp>
      <p:sp>
        <p:nvSpPr>
          <p:cNvPr id="22" name="">
            <a:extLst xmlns:a="http://schemas.openxmlformats.org/drawingml/2006/main">
              <a:ext uri="{FF2B5EF4-FFF2-40B4-BE49-F238E27FC236}">
                <a16:creationId xmlns:a16="http://schemas.microsoft.com/office/drawing/2014/main" id="{853A4D95-3F46-4D5C-AF91-B7908FB36013}"/>
              </a:ext>
            </a:extLst>
          </p:cNvPr>
          <p:cNvSpPr>
            <a:spLocks xmlns:a="http://schemas.openxmlformats.org/drawingml/2006/main" noGrp="1"/>
          </p:cNvSpPr>
          <p:nvPr/>
        </p:nvSpPr>
        <p:spPr>
          <a:xfrm xmlns:a="http://schemas.openxmlformats.org/drawingml/2006/main">
            <a:off x="6886575" y="5124450"/>
            <a:ext cx="470535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4233D"/>
                </a:solidFill>
                <a:latin typeface="DejaVu Sans"/>
                <a:ea typeface="DejaVu Sans"/>
                <a:cs typeface="DejaVu Sans"/>
              </a:defRPr>
            </a:pPr>
            <a:r>
              <a:rPr sz="1950" b="0">
                <a:solidFill>
                  <a:srgbClr val="14233D"/>
                </a:solidFill>
                <a:latin typeface="DejaVu Sans"/>
                <a:ea typeface="DejaVu Sans"/>
                <a:cs typeface="DejaVu Sans"/>
              </a:rPr>
              <a:t>Watch history does not show mastery</a:t>
            </a:r>
          </a:p>
        </p:txBody>
      </p:sp>
      <p:sp>
        <p:nvSpPr>
          <p:cNvPr id="23" name="">
            <a:extLst xmlns:a="http://schemas.openxmlformats.org/drawingml/2006/main">
              <a:ext uri="{FF2B5EF4-FFF2-40B4-BE49-F238E27FC236}">
                <a16:creationId xmlns:a16="http://schemas.microsoft.com/office/drawing/2014/main" id="{5D51E71D-50BB-4AAB-9214-437EC72B6B23}"/>
              </a:ext>
            </a:extLst>
          </p:cNvPr>
          <p:cNvSpPr>
            <a:spLocks xmlns:a="http://schemas.openxmlformats.org/drawingml/2006/main" noGrp="1"/>
          </p:cNvSpPr>
          <p:nvPr/>
        </p:nvSpPr>
        <p:spPr>
          <a:xfrm xmlns:a="http://schemas.openxmlformats.org/drawingml/2006/main">
            <a:off x="609600" y="5972175"/>
            <a:ext cx="109728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14233D"/>
                </a:solidFill>
                <a:latin typeface="DejaVu Sans"/>
                <a:ea typeface="DejaVu Sans"/>
                <a:cs typeface="DejaVu Sans"/>
              </a:defRPr>
            </a:pPr>
            <a:r>
              <a:rPr sz="1950" b="1">
                <a:solidFill>
                  <a:srgbClr val="14233D"/>
                </a:solidFill>
                <a:latin typeface="DejaVu Sans"/>
                <a:ea typeface="DejaVu Sans"/>
                <a:cs typeface="DejaVu Sans"/>
              </a:rPr>
              <a:t>Design opportunity: connect each lesson to practice and a short understanding check.</a:t>
            </a:r>
          </a:p>
        </p:txBody>
      </p:sp>
    </p:spTree>
    <p:extLst>
      <p:ext uri="{BB962C8B-B14F-4D97-AF65-F5344CB8AC3E}">
        <p14:creationId xmlns:p14="http://schemas.microsoft.com/office/powerpoint/2010/main" val="1917112130"/>
      </p:ext>
    </p:extLst>
  </p:cSld>
</p:sld>
</file>

<file path=ppt/slides/slide7.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00275361-0A6E-4D89-BF87-4512E42603F6}"/>
              </a:ext>
            </a:extLst>
          </p:cNvPr>
          <p:cNvSpPr>
            <a:spLocks xmlns:a="http://schemas.openxmlformats.org/drawingml/2006/main" noGrp="1"/>
          </p:cNvSpPr>
          <p:nvPr/>
        </p:nvSpPr>
        <p:spPr>
          <a:xfrm xmlns:a="http://schemas.openxmlformats.org/drawingml/2006/main">
            <a:off x="609600" y="523875"/>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4233D"/>
                </a:solidFill>
                <a:latin typeface="DejaVu Sans"/>
                <a:ea typeface="DejaVu Sans"/>
                <a:cs typeface="DejaVu Sans"/>
              </a:defRPr>
            </a:pPr>
            <a:r>
              <a:rPr sz="3300" b="1">
                <a:solidFill>
                  <a:srgbClr val="14233D"/>
                </a:solidFill>
                <a:latin typeface="DejaVu Sans"/>
                <a:ea typeface="DejaVu Sans"/>
                <a:cs typeface="DejaVu Sans"/>
              </a:rPr>
              <a:t>How could the system be better?</a:t>
            </a:r>
          </a:p>
        </p:txBody>
      </p:sp>
      <p:sp>
        <p:nvSpPr>
          <p:cNvPr id="2" name="">
            <a:extLst xmlns:a="http://schemas.openxmlformats.org/drawingml/2006/main">
              <a:ext uri="{FF2B5EF4-FFF2-40B4-BE49-F238E27FC236}">
                <a16:creationId xmlns:a16="http://schemas.microsoft.com/office/drawing/2014/main" id="{12C2253D-0117-4334-BFDC-5ACAA7DCA309}"/>
              </a:ext>
            </a:extLst>
          </p:cNvPr>
          <p:cNvSpPr>
            <a:spLocks xmlns:a="http://schemas.openxmlformats.org/drawingml/2006/main" noGrp="1"/>
          </p:cNvSpPr>
          <p:nvPr/>
        </p:nvSpPr>
        <p:spPr>
          <a:xfrm xmlns:a="http://schemas.openxmlformats.org/drawingml/2006/main">
            <a:off x="11049000" y="6315075"/>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96578"/>
                </a:solidFill>
                <a:latin typeface="DejaVu Sans"/>
                <a:ea typeface="DejaVu Sans"/>
                <a:cs typeface="DejaVu Sans"/>
              </a:defRPr>
            </a:pPr>
            <a:r>
              <a:rPr sz="1350" b="0">
                <a:solidFill>
                  <a:srgbClr val="596578"/>
                </a:solidFill>
                <a:latin typeface="DejaVu Sans"/>
                <a:ea typeface="DejaVu Sans"/>
                <a:cs typeface="DejaVu Sans"/>
              </a:rPr>
              <a:t>07</a:t>
            </a:r>
          </a:p>
        </p:txBody>
      </p:sp>
      <p:sp>
        <p:nvSpPr>
          <p:cNvPr id="3" name="">
            <a:extLst xmlns:a="http://schemas.openxmlformats.org/drawingml/2006/main">
              <a:ext uri="{FF2B5EF4-FFF2-40B4-BE49-F238E27FC236}">
                <a16:creationId xmlns:a16="http://schemas.microsoft.com/office/drawing/2014/main" id="{D1701708-5B93-467F-ACD1-BAF8E8C4E07D}"/>
              </a:ext>
            </a:extLst>
          </p:cNvPr>
          <p:cNvSpPr>
            <a:spLocks xmlns:a="http://schemas.openxmlformats.org/drawingml/2006/main" noGrp="1"/>
          </p:cNvSpPr>
          <p:nvPr/>
        </p:nvSpPr>
        <p:spPr>
          <a:xfrm xmlns:a="http://schemas.openxmlformats.org/drawingml/2006/main">
            <a:off x="609600" y="1504950"/>
            <a:ext cx="1047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344ACC"/>
                </a:solidFill>
                <a:latin typeface="DejaVu Sans"/>
                <a:ea typeface="DejaVu Sans"/>
                <a:cs typeface="DejaVu Sans"/>
              </a:defRPr>
            </a:pPr>
            <a:r>
              <a:rPr sz="2100" b="1">
                <a:solidFill>
                  <a:srgbClr val="344ACC"/>
                </a:solidFill>
                <a:latin typeface="DejaVu Sans"/>
                <a:ea typeface="DejaVu Sans"/>
                <a:cs typeface="DejaVu Sans"/>
              </a:rPr>
              <a:t>Proposed learning companion</a:t>
            </a:r>
          </a:p>
        </p:txBody>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fec9a7e71aea4714"/>
          <a:stretch xmlns:a="http://schemas.openxmlformats.org/drawingml/2006/main"/>
        </p:blipFill>
        <p:spPr>
          <a:xfrm xmlns:a="http://schemas.openxmlformats.org/drawingml/2006/main">
            <a:off x="610481" y="1981200"/>
            <a:ext cx="7294389" cy="4105275"/>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48B994B2-E7C7-44E8-BE65-2109FA6C45B1}"/>
              </a:ext>
            </a:extLst>
          </p:cNvPr>
          <p:cNvSpPr>
            <a:spLocks xmlns:a="http://schemas.openxmlformats.org/drawingml/2006/main" noGrp="1"/>
          </p:cNvSpPr>
          <p:nvPr/>
        </p:nvSpPr>
        <p:spPr>
          <a:xfrm xmlns:a="http://schemas.openxmlformats.org/drawingml/2006/main">
            <a:off x="609600" y="6172200"/>
            <a:ext cx="74771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96578"/>
                </a:solidFill>
                <a:latin typeface="DejaVu Sans"/>
                <a:ea typeface="DejaVu Sans"/>
                <a:cs typeface="DejaVu Sans"/>
              </a:defRPr>
            </a:pPr>
            <a:r>
              <a:rPr sz="1350" b="0">
                <a:solidFill>
                  <a:srgbClr val="596578"/>
                </a:solidFill>
                <a:latin typeface="DejaVu Sans"/>
                <a:ea typeface="DejaVu Sans"/>
                <a:cs typeface="DejaVu Sans"/>
              </a:rPr>
              <a:t>Illustrative concept, not an existing TTMIK interface</a:t>
            </a:r>
          </a:p>
        </p:txBody>
      </p:sp>
      <p:sp>
        <p:nvSpPr>
          <p:cNvPr id="6" name="">
            <a:extLst xmlns:a="http://schemas.openxmlformats.org/drawingml/2006/main">
              <a:ext uri="{FF2B5EF4-FFF2-40B4-BE49-F238E27FC236}">
                <a16:creationId xmlns:a16="http://schemas.microsoft.com/office/drawing/2014/main" id="{C1143C01-F43C-4823-947A-6D7FB2D0D46B}"/>
              </a:ext>
            </a:extLst>
          </p:cNvPr>
          <p:cNvSpPr>
            <a:spLocks xmlns:a="http://schemas.openxmlformats.org/drawingml/2006/main" noGrp="1"/>
          </p:cNvSpPr>
          <p:nvPr/>
        </p:nvSpPr>
        <p:spPr>
          <a:xfrm xmlns:a="http://schemas.openxmlformats.org/drawingml/2006/main">
            <a:off x="8286750" y="2066925"/>
            <a:ext cx="32956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D7463E"/>
                </a:solidFill>
                <a:latin typeface="DejaVu Sans"/>
                <a:ea typeface="DejaVu Sans"/>
                <a:cs typeface="DejaVu Sans"/>
              </a:defRPr>
            </a:pPr>
            <a:r>
              <a:rPr sz="1275" b="1">
                <a:solidFill>
                  <a:srgbClr val="D7463E"/>
                </a:solidFill>
                <a:latin typeface="DejaVu Sans"/>
                <a:ea typeface="DejaVu Sans"/>
                <a:cs typeface="DejaVu Sans"/>
              </a:rPr>
              <a:t>FIRST</a:t>
            </a:r>
          </a:p>
        </p:txBody>
      </p:sp>
      <p:sp>
        <p:nvSpPr>
          <p:cNvPr id="7" name="">
            <a:extLst xmlns:a="http://schemas.openxmlformats.org/drawingml/2006/main">
              <a:ext uri="{FF2B5EF4-FFF2-40B4-BE49-F238E27FC236}">
                <a16:creationId xmlns:a16="http://schemas.microsoft.com/office/drawing/2014/main" id="{917D4B9A-13E6-48D8-95B7-B60A36380EA6}"/>
              </a:ext>
            </a:extLst>
          </p:cNvPr>
          <p:cNvSpPr>
            <a:spLocks xmlns:a="http://schemas.openxmlformats.org/drawingml/2006/main" noGrp="1"/>
          </p:cNvSpPr>
          <p:nvPr/>
        </p:nvSpPr>
        <p:spPr>
          <a:xfrm xmlns:a="http://schemas.openxmlformats.org/drawingml/2006/main">
            <a:off x="8286750" y="2333625"/>
            <a:ext cx="32956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14233D"/>
                </a:solidFill>
                <a:latin typeface="DejaVu Sans"/>
                <a:ea typeface="DejaVu Sans"/>
                <a:cs typeface="DejaVu Sans"/>
              </a:defRPr>
            </a:pPr>
            <a:r>
              <a:rPr sz="1800" b="1">
                <a:solidFill>
                  <a:srgbClr val="14233D"/>
                </a:solidFill>
                <a:latin typeface="DejaVu Sans"/>
                <a:ea typeface="DejaVu Sans"/>
                <a:cs typeface="DejaVu Sans"/>
              </a:rPr>
              <a:t>Level labels + guided paths</a:t>
            </a:r>
          </a:p>
        </p:txBody>
      </p:sp>
      <p:sp>
        <p:nvSpPr>
          <p:cNvPr id="8" name="">
            <a:extLst xmlns:a="http://schemas.openxmlformats.org/drawingml/2006/main">
              <a:ext uri="{FF2B5EF4-FFF2-40B4-BE49-F238E27FC236}">
                <a16:creationId xmlns:a16="http://schemas.microsoft.com/office/drawing/2014/main" id="{DEE5A919-90D7-4951-B071-82B32A5DB763}"/>
              </a:ext>
            </a:extLst>
          </p:cNvPr>
          <p:cNvSpPr>
            <a:spLocks xmlns:a="http://schemas.openxmlformats.org/drawingml/2006/main" noGrp="1"/>
          </p:cNvSpPr>
          <p:nvPr/>
        </p:nvSpPr>
        <p:spPr>
          <a:xfrm xmlns:a="http://schemas.openxmlformats.org/drawingml/2006/main">
            <a:off x="8286750" y="2886075"/>
            <a:ext cx="32956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D7463E"/>
                </a:solidFill>
                <a:latin typeface="DejaVu Sans"/>
                <a:ea typeface="DejaVu Sans"/>
                <a:cs typeface="DejaVu Sans"/>
              </a:defRPr>
            </a:pPr>
            <a:r>
              <a:rPr sz="1275" b="1">
                <a:solidFill>
                  <a:srgbClr val="D7463E"/>
                </a:solidFill>
                <a:latin typeface="DejaVu Sans"/>
                <a:ea typeface="DejaVu Sans"/>
                <a:cs typeface="DejaVu Sans"/>
              </a:rPr>
              <a:t>FIRST</a:t>
            </a:r>
          </a:p>
        </p:txBody>
      </p:sp>
      <p:sp>
        <p:nvSpPr>
          <p:cNvPr id="9" name="">
            <a:extLst xmlns:a="http://schemas.openxmlformats.org/drawingml/2006/main">
              <a:ext uri="{FF2B5EF4-FFF2-40B4-BE49-F238E27FC236}">
                <a16:creationId xmlns:a16="http://schemas.microsoft.com/office/drawing/2014/main" id="{88868822-4E63-47E5-8743-7DD5D77336B1}"/>
              </a:ext>
            </a:extLst>
          </p:cNvPr>
          <p:cNvSpPr>
            <a:spLocks xmlns:a="http://schemas.openxmlformats.org/drawingml/2006/main" noGrp="1"/>
          </p:cNvSpPr>
          <p:nvPr/>
        </p:nvSpPr>
        <p:spPr>
          <a:xfrm xmlns:a="http://schemas.openxmlformats.org/drawingml/2006/main">
            <a:off x="8286750" y="3152775"/>
            <a:ext cx="32956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14233D"/>
                </a:solidFill>
                <a:latin typeface="DejaVu Sans"/>
                <a:ea typeface="DejaVu Sans"/>
                <a:cs typeface="DejaVu Sans"/>
              </a:defRPr>
            </a:pPr>
            <a:r>
              <a:rPr sz="1800" b="1">
                <a:solidFill>
                  <a:srgbClr val="14233D"/>
                </a:solidFill>
                <a:latin typeface="DejaVu Sans"/>
                <a:ea typeface="DejaVu Sans"/>
                <a:cs typeface="DejaVu Sans"/>
              </a:rPr>
              <a:t>Quizzes + progress tracking</a:t>
            </a:r>
          </a:p>
        </p:txBody>
      </p:sp>
      <p:sp>
        <p:nvSpPr>
          <p:cNvPr id="10" name="">
            <a:extLst xmlns:a="http://schemas.openxmlformats.org/drawingml/2006/main">
              <a:ext uri="{FF2B5EF4-FFF2-40B4-BE49-F238E27FC236}">
                <a16:creationId xmlns:a16="http://schemas.microsoft.com/office/drawing/2014/main" id="{D2AEFA9D-0EF7-4F17-8341-F1654EFF9775}"/>
              </a:ext>
            </a:extLst>
          </p:cNvPr>
          <p:cNvSpPr>
            <a:spLocks xmlns:a="http://schemas.openxmlformats.org/drawingml/2006/main" noGrp="1"/>
          </p:cNvSpPr>
          <p:nvPr/>
        </p:nvSpPr>
        <p:spPr>
          <a:xfrm xmlns:a="http://schemas.openxmlformats.org/drawingml/2006/main">
            <a:off x="8286750" y="3705225"/>
            <a:ext cx="32956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D7463E"/>
                </a:solidFill>
                <a:latin typeface="DejaVu Sans"/>
                <a:ea typeface="DejaVu Sans"/>
                <a:cs typeface="DejaVu Sans"/>
              </a:defRPr>
            </a:pPr>
            <a:r>
              <a:rPr sz="1275" b="1">
                <a:solidFill>
                  <a:srgbClr val="D7463E"/>
                </a:solidFill>
                <a:latin typeface="DejaVu Sans"/>
                <a:ea typeface="DejaVu Sans"/>
                <a:cs typeface="DejaVu Sans"/>
              </a:rPr>
              <a:t>NEXT</a:t>
            </a:r>
          </a:p>
        </p:txBody>
      </p:sp>
      <p:sp>
        <p:nvSpPr>
          <p:cNvPr id="11" name="">
            <a:extLst xmlns:a="http://schemas.openxmlformats.org/drawingml/2006/main">
              <a:ext uri="{FF2B5EF4-FFF2-40B4-BE49-F238E27FC236}">
                <a16:creationId xmlns:a16="http://schemas.microsoft.com/office/drawing/2014/main" id="{4C9AE2A1-AA00-4268-87E5-A6B9F6AEF4A7}"/>
              </a:ext>
            </a:extLst>
          </p:cNvPr>
          <p:cNvSpPr>
            <a:spLocks xmlns:a="http://schemas.openxmlformats.org/drawingml/2006/main" noGrp="1"/>
          </p:cNvSpPr>
          <p:nvPr/>
        </p:nvSpPr>
        <p:spPr>
          <a:xfrm xmlns:a="http://schemas.openxmlformats.org/drawingml/2006/main">
            <a:off x="8286750" y="3971925"/>
            <a:ext cx="32956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14233D"/>
                </a:solidFill>
                <a:latin typeface="DejaVu Sans"/>
                <a:ea typeface="DejaVu Sans"/>
                <a:cs typeface="DejaVu Sans"/>
              </a:defRPr>
            </a:pPr>
            <a:r>
              <a:rPr sz="1800" b="1">
                <a:solidFill>
                  <a:srgbClr val="14233D"/>
                </a:solidFill>
                <a:latin typeface="DejaVu Sans"/>
                <a:ea typeface="DejaVu Sans"/>
                <a:cs typeface="DejaVu Sans"/>
              </a:rPr>
              <a:t>Flashcards + pronunciation</a:t>
            </a:r>
          </a:p>
        </p:txBody>
      </p:sp>
      <p:sp>
        <p:nvSpPr>
          <p:cNvPr id="12" name="">
            <a:extLst xmlns:a="http://schemas.openxmlformats.org/drawingml/2006/main">
              <a:ext uri="{FF2B5EF4-FFF2-40B4-BE49-F238E27FC236}">
                <a16:creationId xmlns:a16="http://schemas.microsoft.com/office/drawing/2014/main" id="{CBA57962-B6EB-4188-8E28-BFD5CC74209F}"/>
              </a:ext>
            </a:extLst>
          </p:cNvPr>
          <p:cNvSpPr>
            <a:spLocks xmlns:a="http://schemas.openxmlformats.org/drawingml/2006/main" noGrp="1"/>
          </p:cNvSpPr>
          <p:nvPr/>
        </p:nvSpPr>
        <p:spPr>
          <a:xfrm xmlns:a="http://schemas.openxmlformats.org/drawingml/2006/main">
            <a:off x="8286750" y="4524375"/>
            <a:ext cx="32956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D7463E"/>
                </a:solidFill>
                <a:latin typeface="DejaVu Sans"/>
                <a:ea typeface="DejaVu Sans"/>
                <a:cs typeface="DejaVu Sans"/>
              </a:defRPr>
            </a:pPr>
            <a:r>
              <a:rPr sz="1275" b="1">
                <a:solidFill>
                  <a:srgbClr val="D7463E"/>
                </a:solidFill>
                <a:latin typeface="DejaVu Sans"/>
                <a:ea typeface="DejaVu Sans"/>
                <a:cs typeface="DejaVu Sans"/>
              </a:rPr>
              <a:t>LATER</a:t>
            </a:r>
          </a:p>
        </p:txBody>
      </p:sp>
      <p:sp>
        <p:nvSpPr>
          <p:cNvPr id="13" name="">
            <a:extLst xmlns:a="http://schemas.openxmlformats.org/drawingml/2006/main">
              <a:ext uri="{FF2B5EF4-FFF2-40B4-BE49-F238E27FC236}">
                <a16:creationId xmlns:a16="http://schemas.microsoft.com/office/drawing/2014/main" id="{D909DC9A-C669-4AF8-9F2A-17D42B603943}"/>
              </a:ext>
            </a:extLst>
          </p:cNvPr>
          <p:cNvSpPr>
            <a:spLocks xmlns:a="http://schemas.openxmlformats.org/drawingml/2006/main" noGrp="1"/>
          </p:cNvSpPr>
          <p:nvPr/>
        </p:nvSpPr>
        <p:spPr>
          <a:xfrm xmlns:a="http://schemas.openxmlformats.org/drawingml/2006/main">
            <a:off x="8286750" y="4791075"/>
            <a:ext cx="32956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14233D"/>
                </a:solidFill>
                <a:latin typeface="DejaVu Sans"/>
                <a:ea typeface="DejaVu Sans"/>
                <a:cs typeface="DejaVu Sans"/>
              </a:defRPr>
            </a:pPr>
            <a:r>
              <a:rPr sz="1800" b="1">
                <a:solidFill>
                  <a:srgbClr val="14233D"/>
                </a:solidFill>
                <a:latin typeface="DejaVu Sans"/>
                <a:ea typeface="DejaVu Sans"/>
                <a:cs typeface="DejaVu Sans"/>
              </a:rPr>
              <a:t>TOPIK paths + recommendations</a:t>
            </a:r>
          </a:p>
        </p:txBody>
      </p:sp>
      <p:sp>
        <p:nvSpPr>
          <p:cNvPr id="14" name="">
            <a:extLst xmlns:a="http://schemas.openxmlformats.org/drawingml/2006/main">
              <a:ext uri="{FF2B5EF4-FFF2-40B4-BE49-F238E27FC236}">
                <a16:creationId xmlns:a16="http://schemas.microsoft.com/office/drawing/2014/main" id="{E70BF664-9823-4307-B83E-EBEC0ABAAF6F}"/>
              </a:ext>
            </a:extLst>
          </p:cNvPr>
          <p:cNvSpPr>
            <a:spLocks xmlns:a="http://schemas.openxmlformats.org/drawingml/2006/main" noGrp="1"/>
          </p:cNvSpPr>
          <p:nvPr/>
        </p:nvSpPr>
        <p:spPr>
          <a:xfrm xmlns:a="http://schemas.openxmlformats.org/drawingml/2006/main">
            <a:off x="8286750" y="5343525"/>
            <a:ext cx="32956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D7463E"/>
                </a:solidFill>
                <a:latin typeface="DejaVu Sans"/>
                <a:ea typeface="DejaVu Sans"/>
                <a:cs typeface="DejaVu Sans"/>
              </a:defRPr>
            </a:pPr>
            <a:r>
              <a:rPr sz="1275" b="1">
                <a:solidFill>
                  <a:srgbClr val="D7463E"/>
                </a:solidFill>
                <a:latin typeface="DejaVu Sans"/>
                <a:ea typeface="DejaVu Sans"/>
                <a:cs typeface="DejaVu Sans"/>
              </a:rPr>
              <a:t>LATER</a:t>
            </a:r>
          </a:p>
        </p:txBody>
      </p:sp>
      <p:sp>
        <p:nvSpPr>
          <p:cNvPr id="15" name="">
            <a:extLst xmlns:a="http://schemas.openxmlformats.org/drawingml/2006/main">
              <a:ext uri="{FF2B5EF4-FFF2-40B4-BE49-F238E27FC236}">
                <a16:creationId xmlns:a16="http://schemas.microsoft.com/office/drawing/2014/main" id="{CF86BD75-2F65-49BE-8DE5-A9DD2428586C}"/>
              </a:ext>
            </a:extLst>
          </p:cNvPr>
          <p:cNvSpPr>
            <a:spLocks xmlns:a="http://schemas.openxmlformats.org/drawingml/2006/main" noGrp="1"/>
          </p:cNvSpPr>
          <p:nvPr/>
        </p:nvSpPr>
        <p:spPr>
          <a:xfrm xmlns:a="http://schemas.openxmlformats.org/drawingml/2006/main">
            <a:off x="8286750" y="5610225"/>
            <a:ext cx="32956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14233D"/>
                </a:solidFill>
                <a:latin typeface="DejaVu Sans"/>
                <a:ea typeface="DejaVu Sans"/>
                <a:cs typeface="DejaVu Sans"/>
              </a:defRPr>
            </a:pPr>
            <a:r>
              <a:rPr sz="1800" b="1">
                <a:solidFill>
                  <a:srgbClr val="14233D"/>
                </a:solidFill>
                <a:latin typeface="DejaVu Sans"/>
                <a:ea typeface="DejaVu Sans"/>
                <a:cs typeface="DejaVu Sans"/>
              </a:rPr>
              <a:t>Assessed achievements / certificates</a:t>
            </a:r>
          </a:p>
        </p:txBody>
      </p:sp>
    </p:spTree>
    <p:extLst>
      <p:ext uri="{BB962C8B-B14F-4D97-AF65-F5344CB8AC3E}">
        <p14:creationId xmlns:p14="http://schemas.microsoft.com/office/powerpoint/2010/main" val="225007267"/>
      </p:ext>
    </p:extLst>
  </p:cSld>
</p:sld>
</file>

<file path=ppt/slides/slide8.xml><?xml version="1.0" encoding="utf-8"?>
<p:sld xmlns:p="http://schemas.openxmlformats.org/presentationml/2006/main">
  <p:cSld>
    <p:bg>
      <p:bgPr>
        <a:solidFill xmlns:a="http://schemas.openxmlformats.org/drawingml/2006/main">
          <a:srgbClr val="14233D"/>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2A3C98C9-3F22-431F-AC16-696F41322EB0}"/>
              </a:ext>
            </a:extLst>
          </p:cNvPr>
          <p:cNvSpPr>
            <a:spLocks xmlns:a="http://schemas.openxmlformats.org/drawingml/2006/main" noGrp="1"/>
          </p:cNvSpPr>
          <p:nvPr/>
        </p:nvSpPr>
        <p:spPr>
          <a:xfrm xmlns:a="http://schemas.openxmlformats.org/drawingml/2006/main">
            <a:off x="609600" y="523875"/>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FFFFFF"/>
                </a:solidFill>
                <a:latin typeface="DejaVu Sans"/>
                <a:ea typeface="DejaVu Sans"/>
                <a:cs typeface="DejaVu Sans"/>
              </a:defRPr>
            </a:pPr>
            <a:r>
              <a:rPr sz="3300" b="1">
                <a:solidFill>
                  <a:srgbClr val="FFFFFF"/>
                </a:solidFill>
                <a:latin typeface="DejaVu Sans"/>
                <a:ea typeface="DejaVu Sans"/>
                <a:cs typeface="DejaVu Sans"/>
              </a:rPr>
              <a:t>Thank You</a:t>
            </a:r>
          </a:p>
        </p:txBody>
      </p:sp>
      <p:sp>
        <p:nvSpPr>
          <p:cNvPr id="2" name="">
            <a:extLst xmlns:a="http://schemas.openxmlformats.org/drawingml/2006/main">
              <a:ext uri="{FF2B5EF4-FFF2-40B4-BE49-F238E27FC236}">
                <a16:creationId xmlns:a16="http://schemas.microsoft.com/office/drawing/2014/main" id="{0E8AB093-AA9D-4C6C-8A5C-B5AD9217F5D4}"/>
              </a:ext>
            </a:extLst>
          </p:cNvPr>
          <p:cNvSpPr>
            <a:spLocks xmlns:a="http://schemas.openxmlformats.org/drawingml/2006/main" noGrp="1"/>
          </p:cNvSpPr>
          <p:nvPr/>
        </p:nvSpPr>
        <p:spPr>
          <a:xfrm xmlns:a="http://schemas.openxmlformats.org/drawingml/2006/main">
            <a:off x="11049000" y="6315075"/>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BBC6DC"/>
                </a:solidFill>
                <a:latin typeface="DejaVu Sans"/>
                <a:ea typeface="DejaVu Sans"/>
                <a:cs typeface="DejaVu Sans"/>
              </a:defRPr>
            </a:pPr>
            <a:r>
              <a:rPr sz="1350" b="0">
                <a:solidFill>
                  <a:srgbClr val="BBC6DC"/>
                </a:solidFill>
                <a:latin typeface="DejaVu Sans"/>
                <a:ea typeface="DejaVu Sans"/>
                <a:cs typeface="DejaVu Sans"/>
              </a:rPr>
              <a:t>08</a:t>
            </a:r>
          </a:p>
        </p:txBody>
      </p:sp>
      <p:sp>
        <p:nvSpPr>
          <p:cNvPr id="3" name="">
            <a:extLst xmlns:a="http://schemas.openxmlformats.org/drawingml/2006/main">
              <a:ext uri="{FF2B5EF4-FFF2-40B4-BE49-F238E27FC236}">
                <a16:creationId xmlns:a16="http://schemas.microsoft.com/office/drawing/2014/main" id="{7E12DA90-9413-441B-803B-D1481D1BA259}"/>
              </a:ext>
            </a:extLst>
          </p:cNvPr>
          <p:cNvSpPr>
            <a:spLocks xmlns:a="http://schemas.openxmlformats.org/drawingml/2006/main" noGrp="1"/>
          </p:cNvSpPr>
          <p:nvPr/>
        </p:nvSpPr>
        <p:spPr>
          <a:xfrm xmlns:a="http://schemas.openxmlformats.org/drawingml/2006/main">
            <a:off x="609600" y="1981200"/>
            <a:ext cx="108585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DejaVu Sans"/>
                <a:ea typeface="DejaVu Sans"/>
                <a:cs typeface="DejaVu Sans"/>
              </a:defRPr>
            </a:pPr>
            <a:r>
              <a:rPr sz="3150" b="1">
                <a:solidFill>
                  <a:srgbClr val="FFFFFF"/>
                </a:solidFill>
                <a:latin typeface="DejaVu Sans"/>
                <a:ea typeface="DejaVu Sans"/>
                <a:cs typeface="DejaVu Sans"/>
              </a:rPr>
              <a:t>Valuable content becomes more effective</a:t>
            </a:r>
          </a:p>
          <a:p xmlns:a="http://schemas.openxmlformats.org/drawingml/2006/main">
            <a:pPr>
              <a:defRPr sz="3150" b="1">
                <a:solidFill>
                  <a:srgbClr val="FFFFFF"/>
                </a:solidFill>
                <a:latin typeface="DejaVu Sans"/>
                <a:ea typeface="DejaVu Sans"/>
                <a:cs typeface="DejaVu Sans"/>
              </a:defRPr>
            </a:pPr>
            <a:r>
              <a:rPr sz="3150" b="1">
                <a:solidFill>
                  <a:srgbClr val="FFFFFF"/>
                </a:solidFill>
                <a:latin typeface="DejaVu Sans"/>
                <a:ea typeface="DejaVu Sans"/>
                <a:cs typeface="DejaVu Sans"/>
              </a:rPr>
              <a:t>with structure, practice and feedback.</a:t>
            </a:r>
          </a:p>
        </p:txBody>
      </p:sp>
      <p:sp>
        <p:nvSpPr>
          <p:cNvPr id="4" name="">
            <a:extLst xmlns:a="http://schemas.openxmlformats.org/drawingml/2006/main">
              <a:ext uri="{FF2B5EF4-FFF2-40B4-BE49-F238E27FC236}">
                <a16:creationId xmlns:a16="http://schemas.microsoft.com/office/drawing/2014/main" id="{996B8464-92B9-4958-8818-37FA1E5E7C17}"/>
              </a:ext>
            </a:extLst>
          </p:cNvPr>
          <p:cNvSpPr>
            <a:spLocks xmlns:a="http://schemas.openxmlformats.org/drawingml/2006/main" noGrp="1"/>
          </p:cNvSpPr>
          <p:nvPr/>
        </p:nvSpPr>
        <p:spPr>
          <a:xfrm xmlns:a="http://schemas.openxmlformats.org/drawingml/2006/main">
            <a:off x="609600" y="3971925"/>
            <a:ext cx="106680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0">
                <a:solidFill>
                  <a:srgbClr val="BAC9E5"/>
                </a:solidFill>
                <a:latin typeface="DejaVu Sans"/>
                <a:ea typeface="DejaVu Sans"/>
                <a:cs typeface="DejaVu Sans"/>
              </a:defRPr>
            </a:pPr>
            <a:r>
              <a:rPr sz="3300" b="0">
                <a:solidFill>
                  <a:srgbClr val="BAC9E5"/>
                </a:solidFill>
                <a:latin typeface="DejaVu Sans"/>
                <a:ea typeface="DejaVu Sans"/>
                <a:cs typeface="DejaVu Sans"/>
              </a:rPr>
              <a:t>Is watching a lesson enough</a:t>
            </a:r>
          </a:p>
          <a:p xmlns:a="http://schemas.openxmlformats.org/drawingml/2006/main">
            <a:pPr>
              <a:defRPr sz="3300" b="0">
                <a:solidFill>
                  <a:srgbClr val="BAC9E5"/>
                </a:solidFill>
                <a:latin typeface="DejaVu Sans"/>
                <a:ea typeface="DejaVu Sans"/>
                <a:cs typeface="DejaVu Sans"/>
              </a:defRPr>
            </a:pPr>
            <a:r>
              <a:rPr sz="3300" b="0">
                <a:solidFill>
                  <a:srgbClr val="BAC9E5"/>
                </a:solidFill>
                <a:latin typeface="DejaVu Sans"/>
                <a:ea typeface="DejaVu Sans"/>
                <a:cs typeface="DejaVu Sans"/>
              </a:rPr>
              <a:t>to learn a language?</a:t>
            </a:r>
          </a:p>
        </p:txBody>
      </p:sp>
    </p:spTree>
    <p:extLst>
      <p:ext uri="{BB962C8B-B14F-4D97-AF65-F5344CB8AC3E}">
        <p14:creationId xmlns:p14="http://schemas.microsoft.com/office/powerpoint/2010/main" val="116928600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2026-10-05T09:08:43.2090000Z</dcterms:created>
  <dcterms:modified xsi:type="dcterms:W3CDTF">2026-10-05T09:08:43.2090000Z</dcterms:modified>
</coreProperties>
</file>